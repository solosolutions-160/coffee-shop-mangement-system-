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2" r:id="rId1"/>
  </p:sldMasterIdLst>
  <p:sldIdLst>
    <p:sldId id="256" r:id="rId2"/>
    <p:sldId id="257" r:id="rId3"/>
    <p:sldId id="258" r:id="rId4"/>
    <p:sldId id="259" r:id="rId5"/>
    <p:sldId id="260" r:id="rId6"/>
    <p:sldId id="261" r:id="rId7"/>
    <p:sldId id="279" r:id="rId8"/>
    <p:sldId id="280" r:id="rId9"/>
    <p:sldId id="262" r:id="rId10"/>
    <p:sldId id="264" r:id="rId11"/>
    <p:sldId id="265" r:id="rId12"/>
    <p:sldId id="267" r:id="rId13"/>
    <p:sldId id="268" r:id="rId14"/>
    <p:sldId id="266" r:id="rId15"/>
    <p:sldId id="270" r:id="rId16"/>
    <p:sldId id="269" r:id="rId17"/>
    <p:sldId id="271" r:id="rId18"/>
    <p:sldId id="272" r:id="rId19"/>
    <p:sldId id="288" r:id="rId20"/>
    <p:sldId id="282" r:id="rId21"/>
    <p:sldId id="283" r:id="rId22"/>
    <p:sldId id="289" r:id="rId23"/>
    <p:sldId id="290" r:id="rId24"/>
    <p:sldId id="291" r:id="rId25"/>
    <p:sldId id="292"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94660"/>
  </p:normalViewPr>
  <p:slideViewPr>
    <p:cSldViewPr snapToGrid="0">
      <p:cViewPr varScale="1">
        <p:scale>
          <a:sx n="113" d="100"/>
          <a:sy n="113" d="100"/>
        </p:scale>
        <p:origin x="52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CF5AF5-F931-486D-9EAF-0039EF07A9CC}" type="datetimeFigureOut">
              <a:rPr lang="en-US" smtClean="0"/>
              <a:t>4/8/2024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110945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CF5AF5-F931-486D-9EAF-0039EF07A9CC}" type="datetimeFigureOut">
              <a:rPr lang="en-US" smtClean="0"/>
              <a:t>4/8/2024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377387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CF5AF5-F931-486D-9EAF-0039EF07A9CC}" type="datetimeFigureOut">
              <a:rPr lang="en-US" smtClean="0"/>
              <a:t>4/8/2024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281293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CF5AF5-F931-486D-9EAF-0039EF07A9CC}" type="datetimeFigureOut">
              <a:rPr lang="en-US" smtClean="0"/>
              <a:t>4/8/2024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3416812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CF5AF5-F931-486D-9EAF-0039EF07A9CC}" type="datetimeFigureOut">
              <a:rPr lang="en-US" smtClean="0"/>
              <a:t>4/8/2024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4281393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CF5AF5-F931-486D-9EAF-0039EF07A9CC}" type="datetimeFigureOut">
              <a:rPr lang="en-US" smtClean="0"/>
              <a:t>4/8/2024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2566076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CF5AF5-F931-486D-9EAF-0039EF07A9CC}" type="datetimeFigureOut">
              <a:rPr lang="en-US" smtClean="0"/>
              <a:t>4/8/2024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1921654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7CF5AF5-F931-486D-9EAF-0039EF07A9CC}" type="datetimeFigureOut">
              <a:rPr lang="en-US" smtClean="0"/>
              <a:t>4/8/2024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2185668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7CF5AF5-F931-486D-9EAF-0039EF07A9CC}" type="datetimeFigureOut">
              <a:rPr lang="en-US" smtClean="0"/>
              <a:t>4/8/2024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4112186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CF5AF5-F931-486D-9EAF-0039EF07A9CC}" type="datetimeFigureOut">
              <a:rPr lang="en-US" smtClean="0"/>
              <a:t>4/8/2024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3289154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CF5AF5-F931-486D-9EAF-0039EF07A9CC}" type="datetimeFigureOut">
              <a:rPr lang="en-US" smtClean="0"/>
              <a:t>4/8/2024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F9399C1-A621-4C95-8A9C-073662E31DAB}"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726903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7CF5AF5-F931-486D-9EAF-0039EF07A9CC}" type="datetimeFigureOut">
              <a:rPr lang="en-US" smtClean="0"/>
              <a:t>4/8/2024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4191373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7CF5AF5-F931-486D-9EAF-0039EF07A9CC}" type="datetimeFigureOut">
              <a:rPr lang="en-US" smtClean="0"/>
              <a:t>4/8/2024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F9399C1-A621-4C95-8A9C-073662E31DAB}"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13409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7CF5AF5-F931-486D-9EAF-0039EF07A9CC}" type="datetimeFigureOut">
              <a:rPr lang="en-US" smtClean="0"/>
              <a:t>4/8/2024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6088221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CF5AF5-F931-486D-9EAF-0039EF07A9CC}" type="datetimeFigureOut">
              <a:rPr lang="en-US" smtClean="0"/>
              <a:t>4/8/2024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3717943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CF5AF5-F931-486D-9EAF-0039EF07A9CC}" type="datetimeFigureOut">
              <a:rPr lang="en-US" smtClean="0"/>
              <a:t>4/8/2024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2919897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7CF5AF5-F931-486D-9EAF-0039EF07A9CC}" type="datetimeFigureOut">
              <a:rPr lang="en-US" smtClean="0"/>
              <a:t>4/8/2024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2F9399C1-A621-4C95-8A9C-073662E31DAB}" type="slidenum">
              <a:rPr lang="en-US" smtClean="0"/>
              <a:t>‹#›</a:t>
            </a:fld>
            <a:endParaRPr lang="en-US"/>
          </a:p>
        </p:txBody>
      </p:sp>
    </p:spTree>
    <p:extLst>
      <p:ext uri="{BB962C8B-B14F-4D97-AF65-F5344CB8AC3E}">
        <p14:creationId xmlns:p14="http://schemas.microsoft.com/office/powerpoint/2010/main" val="1130179964"/>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 id="2147483904" r:id="rId12"/>
    <p:sldLayoutId id="2147483905" r:id="rId13"/>
    <p:sldLayoutId id="2147483906" r:id="rId14"/>
    <p:sldLayoutId id="2147483907" r:id="rId15"/>
    <p:sldLayoutId id="214748390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214D2-CF12-D9EF-45A1-E7C43C31468D}"/>
              </a:ext>
            </a:extLst>
          </p:cNvPr>
          <p:cNvSpPr>
            <a:spLocks noGrp="1"/>
          </p:cNvSpPr>
          <p:nvPr>
            <p:ph type="ctrTitle"/>
          </p:nvPr>
        </p:nvSpPr>
        <p:spPr>
          <a:xfrm>
            <a:off x="1117232" y="3472031"/>
            <a:ext cx="10263810" cy="732357"/>
          </a:xfrm>
        </p:spPr>
        <p:txBody>
          <a:bodyPr>
            <a:normAutofit fontScale="90000"/>
          </a:bodyPr>
          <a:lstStyle/>
          <a:p>
            <a:pPr algn="ctr"/>
            <a:br>
              <a:rPr lang="en-US" sz="4400" dirty="0">
                <a:solidFill>
                  <a:srgbClr val="002060"/>
                </a:solidFill>
              </a:rPr>
            </a:br>
            <a:r>
              <a:rPr lang="en-US" sz="4400" dirty="0">
                <a:solidFill>
                  <a:schemeClr val="tx1"/>
                </a:solidFill>
              </a:rPr>
              <a:t>“</a:t>
            </a:r>
            <a:r>
              <a:rPr lang="en-US" sz="4400" dirty="0">
                <a:solidFill>
                  <a:schemeClr val="tx1"/>
                </a:solidFill>
                <a:cs typeface="Times New Roman" panose="02020603050405020304" pitchFamily="18" charset="0"/>
              </a:rPr>
              <a:t>Coffee Shop Management System</a:t>
            </a:r>
            <a:r>
              <a:rPr lang="en-US" sz="4400" dirty="0">
                <a:solidFill>
                  <a:schemeClr val="tx1"/>
                </a:solidFill>
              </a:rPr>
              <a:t>”</a:t>
            </a:r>
          </a:p>
        </p:txBody>
      </p:sp>
      <p:sp>
        <p:nvSpPr>
          <p:cNvPr id="3" name="Subtitle 2">
            <a:extLst>
              <a:ext uri="{FF2B5EF4-FFF2-40B4-BE49-F238E27FC236}">
                <a16:creationId xmlns:a16="http://schemas.microsoft.com/office/drawing/2014/main" id="{0425E56E-C02E-4C16-E594-C049EC34A86F}"/>
              </a:ext>
            </a:extLst>
          </p:cNvPr>
          <p:cNvSpPr>
            <a:spLocks noGrp="1"/>
          </p:cNvSpPr>
          <p:nvPr>
            <p:ph type="subTitle" idx="1"/>
          </p:nvPr>
        </p:nvSpPr>
        <p:spPr>
          <a:xfrm>
            <a:off x="1230077" y="3090624"/>
            <a:ext cx="9607826" cy="732357"/>
          </a:xfrm>
        </p:spPr>
        <p:txBody>
          <a:bodyPr>
            <a:normAutofit/>
          </a:bodyPr>
          <a:lstStyle/>
          <a:p>
            <a:pPr algn="ctr"/>
            <a:r>
              <a:rPr lang="en-US" sz="2400" b="1" dirty="0">
                <a:solidFill>
                  <a:schemeClr val="tx1"/>
                </a:solidFill>
                <a:cs typeface="Times New Roman" panose="02020603050405020304" pitchFamily="18" charset="0"/>
              </a:rPr>
              <a:t>PROJECT TITLE</a:t>
            </a:r>
          </a:p>
        </p:txBody>
      </p:sp>
      <p:sp>
        <p:nvSpPr>
          <p:cNvPr id="6" name="TextBox 5">
            <a:extLst>
              <a:ext uri="{FF2B5EF4-FFF2-40B4-BE49-F238E27FC236}">
                <a16:creationId xmlns:a16="http://schemas.microsoft.com/office/drawing/2014/main" id="{09DF33EE-366A-177F-E99B-E7F38E243818}"/>
              </a:ext>
            </a:extLst>
          </p:cNvPr>
          <p:cNvSpPr txBox="1"/>
          <p:nvPr/>
        </p:nvSpPr>
        <p:spPr>
          <a:xfrm>
            <a:off x="7495577" y="5652087"/>
            <a:ext cx="4611756" cy="1292662"/>
          </a:xfrm>
          <a:prstGeom prst="rect">
            <a:avLst/>
          </a:prstGeom>
          <a:noFill/>
        </p:spPr>
        <p:txBody>
          <a:bodyPr wrap="square">
            <a:spAutoFit/>
          </a:bodyPr>
          <a:lstStyle/>
          <a:p>
            <a:pPr algn="r"/>
            <a:r>
              <a:rPr lang="en-US" sz="2000" dirty="0">
                <a:solidFill>
                  <a:srgbClr val="002060"/>
                </a:solidFill>
                <a:effectLst/>
                <a:ea typeface="Times New Roman" panose="02020603050405020304" pitchFamily="18" charset="0"/>
                <a:cs typeface="Times New Roman" panose="02020603050405020304" pitchFamily="18" charset="0"/>
              </a:rPr>
              <a:t>SUBMITTED BY: </a:t>
            </a:r>
          </a:p>
          <a:p>
            <a:pPr algn="r"/>
            <a:r>
              <a:rPr lang="en-US" sz="2000" b="1" dirty="0">
                <a:solidFill>
                  <a:srgbClr val="002060"/>
                </a:solidFill>
                <a:effectLst/>
                <a:ea typeface="Times New Roman" panose="02020603050405020304" pitchFamily="18" charset="0"/>
                <a:cs typeface="Times New Roman" panose="02020603050405020304" pitchFamily="18" charset="0"/>
              </a:rPr>
              <a:t>TEJAS. R. SHINDE [13214]</a:t>
            </a:r>
          </a:p>
          <a:p>
            <a:pPr algn="r"/>
            <a:r>
              <a:rPr lang="en-US" sz="2000" b="1" dirty="0">
                <a:solidFill>
                  <a:srgbClr val="002060"/>
                </a:solidFill>
                <a:ea typeface="Times New Roman" panose="02020603050405020304" pitchFamily="18" charset="0"/>
                <a:cs typeface="Times New Roman" panose="02020603050405020304" pitchFamily="18" charset="0"/>
              </a:rPr>
              <a:t>TEJAS. S.TAWARE[13217</a:t>
            </a:r>
            <a:r>
              <a:rPr lang="en-US" sz="2000" b="1" dirty="0">
                <a:solidFill>
                  <a:srgbClr val="002060"/>
                </a:solidFill>
                <a:effectLst/>
                <a:ea typeface="Times New Roman" panose="02020603050405020304" pitchFamily="18" charset="0"/>
                <a:cs typeface="Times New Roman" panose="02020603050405020304" pitchFamily="18" charset="0"/>
              </a:rPr>
              <a:t>]</a:t>
            </a:r>
            <a:endParaRPr lang="en-US" sz="2000" b="1" dirty="0">
              <a:solidFill>
                <a:srgbClr val="002060"/>
              </a:solidFill>
              <a:cs typeface="Times New Roman" panose="02020603050405020304" pitchFamily="18" charset="0"/>
            </a:endParaRPr>
          </a:p>
          <a:p>
            <a:pPr algn="ctr"/>
            <a:endParaRPr lang="en-US" dirty="0"/>
          </a:p>
        </p:txBody>
      </p:sp>
      <p:sp>
        <p:nvSpPr>
          <p:cNvPr id="8" name="TextBox 7">
            <a:extLst>
              <a:ext uri="{FF2B5EF4-FFF2-40B4-BE49-F238E27FC236}">
                <a16:creationId xmlns:a16="http://schemas.microsoft.com/office/drawing/2014/main" id="{0F947CE6-4BA9-6419-DD54-0A8562399CA8}"/>
              </a:ext>
            </a:extLst>
          </p:cNvPr>
          <p:cNvSpPr txBox="1"/>
          <p:nvPr/>
        </p:nvSpPr>
        <p:spPr>
          <a:xfrm>
            <a:off x="1230077" y="5652087"/>
            <a:ext cx="4490813" cy="1631216"/>
          </a:xfrm>
          <a:prstGeom prst="rect">
            <a:avLst/>
          </a:prstGeom>
          <a:noFill/>
        </p:spPr>
        <p:txBody>
          <a:bodyPr wrap="square">
            <a:spAutoFit/>
          </a:bodyPr>
          <a:lstStyle/>
          <a:p>
            <a:r>
              <a:rPr lang="en-US" sz="2000" dirty="0">
                <a:solidFill>
                  <a:srgbClr val="002060"/>
                </a:solidFill>
                <a:effectLst/>
                <a:ea typeface="Times New Roman" panose="02020603050405020304" pitchFamily="18" charset="0"/>
                <a:cs typeface="Times New Roman" panose="02020603050405020304" pitchFamily="18" charset="0"/>
              </a:rPr>
              <a:t>PROJECT GUIDE:                                                                                             </a:t>
            </a:r>
          </a:p>
          <a:p>
            <a:r>
              <a:rPr lang="en-US" sz="2000" b="1" i="0" dirty="0">
                <a:solidFill>
                  <a:srgbClr val="002060"/>
                </a:solidFill>
                <a:effectLst/>
                <a:cs typeface="Times New Roman" panose="02020603050405020304" pitchFamily="18" charset="0"/>
              </a:rPr>
              <a:t>Prof. M</a:t>
            </a:r>
            <a:r>
              <a:rPr lang="en-US" sz="2000" b="1" dirty="0">
                <a:solidFill>
                  <a:srgbClr val="002060"/>
                </a:solidFill>
                <a:cs typeface="Times New Roman" panose="02020603050405020304" pitchFamily="18" charset="0"/>
              </a:rPr>
              <a:t>.R. SASTE</a:t>
            </a:r>
            <a:endParaRPr lang="en-US" sz="2000" b="1" dirty="0">
              <a:solidFill>
                <a:srgbClr val="002060"/>
              </a:solidFill>
              <a:effectLst/>
              <a:ea typeface="Times New Roman" panose="02020603050405020304" pitchFamily="18" charset="0"/>
              <a:cs typeface="Times New Roman" panose="02020603050405020304" pitchFamily="18" charset="0"/>
            </a:endParaRPr>
          </a:p>
          <a:p>
            <a:endParaRPr lang="en-US" sz="2400" b="1" dirty="0">
              <a:solidFill>
                <a:srgbClr val="002060"/>
              </a:solidFill>
              <a:latin typeface="Aparajita" panose="02020603050405020304" pitchFamily="18" charset="0"/>
              <a:ea typeface="Times New Roman" panose="02020603050405020304" pitchFamily="18" charset="0"/>
              <a:cs typeface="Aparajita" panose="02020603050405020304" pitchFamily="18" charset="0"/>
            </a:endParaRPr>
          </a:p>
          <a:p>
            <a:endParaRPr lang="en-US" b="1" dirty="0">
              <a:latin typeface="Aparajita" panose="02020603050405020304" pitchFamily="18" charset="0"/>
              <a:cs typeface="Aparajita" panose="02020603050405020304" pitchFamily="18" charset="0"/>
            </a:endParaRPr>
          </a:p>
          <a:p>
            <a:endParaRPr lang="en-US" dirty="0"/>
          </a:p>
        </p:txBody>
      </p:sp>
      <p:pic>
        <p:nvPicPr>
          <p:cNvPr id="7" name="Picture 6">
            <a:extLst>
              <a:ext uri="{FF2B5EF4-FFF2-40B4-BE49-F238E27FC236}">
                <a16:creationId xmlns:a16="http://schemas.microsoft.com/office/drawing/2014/main" id="{137C40CB-F0C3-50D0-296A-EE28E18A8E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8782" y="69841"/>
            <a:ext cx="2154436" cy="1384995"/>
          </a:xfrm>
          <a:prstGeom prst="rect">
            <a:avLst/>
          </a:prstGeom>
        </p:spPr>
      </p:pic>
      <p:sp>
        <p:nvSpPr>
          <p:cNvPr id="5" name="TextBox 4">
            <a:extLst>
              <a:ext uri="{FF2B5EF4-FFF2-40B4-BE49-F238E27FC236}">
                <a16:creationId xmlns:a16="http://schemas.microsoft.com/office/drawing/2014/main" id="{3D927F0E-1594-4519-86DC-5AA58CDF7360}"/>
              </a:ext>
            </a:extLst>
          </p:cNvPr>
          <p:cNvSpPr txBox="1"/>
          <p:nvPr/>
        </p:nvSpPr>
        <p:spPr>
          <a:xfrm>
            <a:off x="0" y="1517540"/>
            <a:ext cx="12192000" cy="1384995"/>
          </a:xfrm>
          <a:prstGeom prst="rect">
            <a:avLst/>
          </a:prstGeom>
          <a:noFill/>
        </p:spPr>
        <p:txBody>
          <a:bodyPr wrap="square" rtlCol="0">
            <a:spAutoFit/>
          </a:bodyPr>
          <a:lstStyle/>
          <a:p>
            <a:pPr algn="ctr"/>
            <a:r>
              <a:rPr lang="en-US" sz="2800" b="1" dirty="0">
                <a:latin typeface="+mj-lt"/>
                <a:cs typeface="Times New Roman" panose="02020603050405020304" pitchFamily="18" charset="0"/>
              </a:rPr>
              <a:t>     Tuljaram Chaturchand College of Arts, Science and Commerce</a:t>
            </a:r>
          </a:p>
          <a:p>
            <a:pPr algn="ctr"/>
            <a:r>
              <a:rPr lang="en-US" sz="2800" b="1" dirty="0">
                <a:latin typeface="+mj-lt"/>
                <a:cs typeface="Times New Roman" panose="02020603050405020304" pitchFamily="18" charset="0"/>
              </a:rPr>
              <a:t>Baramati</a:t>
            </a:r>
          </a:p>
          <a:p>
            <a:pPr algn="ctr"/>
            <a:endParaRPr lang="en-US" sz="2800" b="1" dirty="0">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370785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C40E5-722E-610E-7A1B-FB3E651665C7}"/>
              </a:ext>
            </a:extLst>
          </p:cNvPr>
          <p:cNvSpPr>
            <a:spLocks noGrp="1"/>
          </p:cNvSpPr>
          <p:nvPr>
            <p:ph type="title"/>
          </p:nvPr>
        </p:nvSpPr>
        <p:spPr>
          <a:xfrm>
            <a:off x="-2523067" y="635000"/>
            <a:ext cx="12192000" cy="1320800"/>
          </a:xfrm>
        </p:spPr>
        <p:txBody>
          <a:bodyPr>
            <a:normAutofit/>
          </a:bodyPr>
          <a:lstStyle/>
          <a:p>
            <a:pPr algn="ctr"/>
            <a:r>
              <a:rPr lang="en-US" b="1" dirty="0">
                <a:solidFill>
                  <a:schemeClr val="tx1"/>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0B80D9C3-304E-FC3B-7CB2-3D15C535D478}"/>
              </a:ext>
            </a:extLst>
          </p:cNvPr>
          <p:cNvSpPr>
            <a:spLocks noGrp="1"/>
          </p:cNvSpPr>
          <p:nvPr>
            <p:ph idx="1"/>
          </p:nvPr>
        </p:nvSpPr>
        <p:spPr>
          <a:xfrm>
            <a:off x="778934" y="1406571"/>
            <a:ext cx="11286066" cy="5340625"/>
          </a:xfrm>
        </p:spPr>
        <p:txBody>
          <a:bodyPr>
            <a:normAutofit/>
          </a:bodyPr>
          <a:lstStyle/>
          <a:p>
            <a:pPr lvl="0">
              <a:lnSpc>
                <a:spcPct val="107000"/>
              </a:lnSpc>
              <a:spcBef>
                <a:spcPts val="0"/>
              </a:spcBef>
              <a:spcAft>
                <a:spcPts val="800"/>
              </a:spcAft>
              <a:buFont typeface="Wingdings" panose="05000000000000000000" pitchFamily="2" charset="2"/>
              <a:buChar char=""/>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The restaurant industry is known for particularly low profit margins. This project focuses on small businesses, café, especially those that serve fast food . </a:t>
            </a:r>
          </a:p>
          <a:p>
            <a:pPr lvl="0">
              <a:lnSpc>
                <a:spcPct val="107000"/>
              </a:lnSpc>
              <a:spcBef>
                <a:spcPts val="0"/>
              </a:spcBef>
              <a:spcAft>
                <a:spcPts val="800"/>
              </a:spcAft>
              <a:buFont typeface="Wingdings" panose="05000000000000000000" pitchFamily="2" charset="2"/>
              <a:buChar char=""/>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The backbone of experimentation for applying though these accounting processes is local café restaurant in which the managers are in warehouse of how food cost and operating expenses could be combined to provide meaningful cost information.</a:t>
            </a:r>
          </a:p>
          <a:p>
            <a:pPr lvl="0">
              <a:lnSpc>
                <a:spcPct val="107000"/>
              </a:lnSpc>
              <a:spcBef>
                <a:spcPts val="0"/>
              </a:spcBef>
              <a:spcAft>
                <a:spcPts val="800"/>
              </a:spcAft>
              <a:buFont typeface="Wingdings" panose="05000000000000000000" pitchFamily="2" charset="2"/>
              <a:buChar char=""/>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The café management system. Is existing mishaps cafeteria to manager cafeteria daily processes such as order &amp; bill.</a:t>
            </a:r>
          </a:p>
          <a:p>
            <a:pPr lvl="0">
              <a:lnSpc>
                <a:spcPct val="107000"/>
              </a:lnSpc>
              <a:spcBef>
                <a:spcPts val="0"/>
              </a:spcBef>
              <a:spcAft>
                <a:spcPts val="800"/>
              </a:spcAft>
              <a:buFont typeface="Wingdings" panose="05000000000000000000" pitchFamily="2" charset="2"/>
              <a:buChar char=""/>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This process also gives the interface for bill painting purpose in instant time.</a:t>
            </a:r>
          </a:p>
          <a:p>
            <a:pPr lvl="0">
              <a:lnSpc>
                <a:spcPct val="107000"/>
              </a:lnSpc>
              <a:spcBef>
                <a:spcPts val="0"/>
              </a:spcBef>
              <a:spcAft>
                <a:spcPts val="800"/>
              </a:spcAft>
              <a:buFont typeface="Wingdings" panose="05000000000000000000" pitchFamily="2" charset="2"/>
              <a:buChar char=""/>
            </a:pPr>
            <a:endParaRPr lang="en-US" sz="1600" kern="100" dirty="0">
              <a:latin typeface="Calibri" panose="020F0502020204030204" pitchFamily="34" charset="0"/>
              <a:ea typeface="Calibri" panose="020F0502020204030204" pitchFamily="34" charset="0"/>
              <a:cs typeface="Mangal" panose="02040503050203030202" pitchFamily="18" charset="0"/>
            </a:endParaRPr>
          </a:p>
          <a:p>
            <a:pPr marL="0" indent="0">
              <a:buNone/>
            </a:pPr>
            <a:endParaRPr lang="en-US" sz="2400" dirty="0">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85667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7E5E4-BC22-3002-09FA-B29305B45DF4}"/>
              </a:ext>
            </a:extLst>
          </p:cNvPr>
          <p:cNvSpPr>
            <a:spLocks noGrp="1"/>
          </p:cNvSpPr>
          <p:nvPr>
            <p:ph type="title"/>
          </p:nvPr>
        </p:nvSpPr>
        <p:spPr>
          <a:xfrm>
            <a:off x="-683676" y="615643"/>
            <a:ext cx="8911687" cy="1280890"/>
          </a:xfrm>
        </p:spPr>
        <p:txBody>
          <a:bodyPr>
            <a:normAutofit/>
          </a:bodyPr>
          <a:lstStyle/>
          <a:p>
            <a:pPr algn="ctr"/>
            <a:r>
              <a:rPr lang="en-US" b="1" dirty="0">
                <a:solidFill>
                  <a:schemeClr val="tx1"/>
                </a:solidFill>
                <a:latin typeface="Times New Roman" panose="02020603050405020304" pitchFamily="18" charset="0"/>
                <a:cs typeface="Times New Roman" panose="02020603050405020304" pitchFamily="18" charset="0"/>
              </a:rPr>
              <a:t>SCOPE OF SYSTEM</a:t>
            </a:r>
          </a:p>
        </p:txBody>
      </p:sp>
      <p:sp>
        <p:nvSpPr>
          <p:cNvPr id="3" name="Content Placeholder 2">
            <a:extLst>
              <a:ext uri="{FF2B5EF4-FFF2-40B4-BE49-F238E27FC236}">
                <a16:creationId xmlns:a16="http://schemas.microsoft.com/office/drawing/2014/main" id="{D5E8D59C-7785-269C-AC11-0A86528D1519}"/>
              </a:ext>
            </a:extLst>
          </p:cNvPr>
          <p:cNvSpPr>
            <a:spLocks noGrp="1"/>
          </p:cNvSpPr>
          <p:nvPr>
            <p:ph idx="1"/>
          </p:nvPr>
        </p:nvSpPr>
        <p:spPr>
          <a:xfrm>
            <a:off x="291024" y="1431235"/>
            <a:ext cx="11799376" cy="5316698"/>
          </a:xfrm>
        </p:spPr>
        <p:txBody>
          <a:bodyPr>
            <a:normAutofit/>
          </a:bodyPr>
          <a:lstStyle/>
          <a:p>
            <a:pPr marL="0" marR="0" indent="0">
              <a:lnSpc>
                <a:spcPct val="107000"/>
              </a:lnSpc>
              <a:spcBef>
                <a:spcPts val="0"/>
              </a:spcBef>
              <a:spcAft>
                <a:spcPts val="800"/>
              </a:spcAft>
              <a:buNone/>
              <a:tabLst>
                <a:tab pos="1152525" algn="l"/>
              </a:tabLst>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The scope of the  Coffee Shop Management System includes the following key aspects:</a:t>
            </a:r>
          </a:p>
          <a:p>
            <a:pPr lvl="0">
              <a:lnSpc>
                <a:spcPct val="107000"/>
              </a:lnSpc>
              <a:spcBef>
                <a:spcPts val="0"/>
              </a:spcBef>
              <a:spcAft>
                <a:spcPts val="800"/>
              </a:spcAft>
              <a:buFont typeface="Wingdings" panose="05000000000000000000" pitchFamily="2" charset="2"/>
              <a:buChar char=""/>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It is designed to increase operational efficiency, saving our money and time maximizing profit and provide more security. It is designed to avoid paperwork.</a:t>
            </a:r>
          </a:p>
          <a:p>
            <a:pPr lvl="0">
              <a:lnSpc>
                <a:spcPct val="107000"/>
              </a:lnSpc>
              <a:spcBef>
                <a:spcPts val="0"/>
              </a:spcBef>
              <a:spcAft>
                <a:spcPts val="800"/>
              </a:spcAft>
              <a:buFont typeface="Wingdings" panose="05000000000000000000" pitchFamily="2" charset="2"/>
              <a:buChar char=""/>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Cafeteria Management especially manage the menu items, gives interface to the orderings, expenditure reports, user to manage the items and inventory.</a:t>
            </a:r>
          </a:p>
          <a:p>
            <a:pPr lvl="0">
              <a:lnSpc>
                <a:spcPct val="107000"/>
              </a:lnSpc>
              <a:spcBef>
                <a:spcPts val="0"/>
              </a:spcBef>
              <a:spcAft>
                <a:spcPts val="800"/>
              </a:spcAft>
              <a:buFont typeface="Wingdings" panose="05000000000000000000" pitchFamily="2" charset="2"/>
              <a:buChar char=""/>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Whereas it maintains the relationship between customers and the admin in a technical way, with the help of coffee shop management software, the software will facilitate creation of different reports.</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173355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7D729-6C1B-4FBA-8CAB-C130ADAE54CB}"/>
              </a:ext>
            </a:extLst>
          </p:cNvPr>
          <p:cNvSpPr>
            <a:spLocks noGrp="1"/>
          </p:cNvSpPr>
          <p:nvPr>
            <p:ph type="title"/>
          </p:nvPr>
        </p:nvSpPr>
        <p:spPr>
          <a:xfrm>
            <a:off x="1563991" y="666444"/>
            <a:ext cx="9383408" cy="1280890"/>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BE5733F4-EC72-FEAB-DEAF-7F975890AA7B}"/>
              </a:ext>
            </a:extLst>
          </p:cNvPr>
          <p:cNvSpPr>
            <a:spLocks noGrp="1"/>
          </p:cNvSpPr>
          <p:nvPr>
            <p:ph idx="1"/>
          </p:nvPr>
        </p:nvSpPr>
        <p:spPr>
          <a:xfrm>
            <a:off x="605366" y="1566333"/>
            <a:ext cx="10981267" cy="5494867"/>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existing system for Coffee Shop Management typically involves manual and paper-based processes, which can be time-consuming, error-prone, and inefficient. </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Manual Data Entry</a:t>
            </a:r>
            <a:r>
              <a:rPr lang="en-US" sz="2400" dirty="0">
                <a:latin typeface="Times New Roman" panose="02020603050405020304" pitchFamily="18" charset="0"/>
                <a:cs typeface="Times New Roman" panose="02020603050405020304" pitchFamily="18" charset="0"/>
              </a:rPr>
              <a:t>: Product information is often stored in physical files or spreadsheets, requiring manual data entry and updating. </a:t>
            </a:r>
          </a:p>
          <a:p>
            <a:r>
              <a:rPr lang="en-US" sz="2400" b="1" dirty="0">
                <a:latin typeface="Times New Roman" panose="02020603050405020304" pitchFamily="18" charset="0"/>
                <a:cs typeface="Times New Roman" panose="02020603050405020304" pitchFamily="18" charset="0"/>
              </a:rPr>
              <a:t>Limited Accessibility</a:t>
            </a:r>
            <a:r>
              <a:rPr lang="en-US" sz="2400" dirty="0">
                <a:latin typeface="Times New Roman" panose="02020603050405020304" pitchFamily="18" charset="0"/>
                <a:cs typeface="Times New Roman" panose="02020603050405020304" pitchFamily="18" charset="0"/>
              </a:rPr>
              <a:t>: The existing system for Coffee Shop Management typically involves manual and paper-based processes, which can be time-consuming, error-prone, and inefficient. </a:t>
            </a:r>
          </a:p>
          <a:p>
            <a:pPr marL="0" indent="0">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374395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07BF7-BF37-E277-5822-3898F4B23299}"/>
              </a:ext>
            </a:extLst>
          </p:cNvPr>
          <p:cNvSpPr>
            <a:spLocks noGrp="1"/>
          </p:cNvSpPr>
          <p:nvPr>
            <p:ph type="title"/>
          </p:nvPr>
        </p:nvSpPr>
        <p:spPr>
          <a:xfrm>
            <a:off x="1617133" y="624110"/>
            <a:ext cx="9383408" cy="1280890"/>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296FFDDE-4537-4D63-A1A9-3AB8A4CFDF3A}"/>
              </a:ext>
            </a:extLst>
          </p:cNvPr>
          <p:cNvSpPr>
            <a:spLocks noGrp="1"/>
          </p:cNvSpPr>
          <p:nvPr>
            <p:ph idx="1"/>
          </p:nvPr>
        </p:nvSpPr>
        <p:spPr>
          <a:xfrm>
            <a:off x="1191459" y="1463997"/>
            <a:ext cx="10831208" cy="5258536"/>
          </a:xfrm>
        </p:spPr>
        <p:txBody>
          <a:bodyPr>
            <a:normAutofit/>
          </a:bodyPr>
          <a:lstStyle/>
          <a:p>
            <a:pPr lvl="0">
              <a:spcBef>
                <a:spcPts val="0"/>
              </a:spcBef>
              <a:buFont typeface="Wingdings" panose="05000000000000000000" pitchFamily="2" charset="2"/>
              <a:buChar char=""/>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Centralized Employee Database</a:t>
            </a:r>
            <a:r>
              <a:rPr lang="en-US" sz="2400" kern="100" dirty="0">
                <a:latin typeface="Times New Roman" panose="02020603050405020304" pitchFamily="18" charset="0"/>
                <a:ea typeface="Calibri" panose="020F0502020204030204" pitchFamily="34" charset="0"/>
                <a:cs typeface="Times New Roman" panose="02020603050405020304" pitchFamily="18" charset="0"/>
              </a:rPr>
              <a:t>: To overcome all the problems faced in the existing system, we apply billing as well as other facilities that are not present in the existing system. </a:t>
            </a:r>
          </a:p>
          <a:p>
            <a:pPr lvl="0">
              <a:spcBef>
                <a:spcPts val="0"/>
              </a:spcBef>
              <a:buFont typeface="Wingdings" panose="05000000000000000000" pitchFamily="2" charset="2"/>
              <a:buChar char=""/>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Inventory and Stock Management</a:t>
            </a:r>
            <a:r>
              <a:rPr lang="en-US" sz="2400" kern="100" dirty="0">
                <a:latin typeface="Times New Roman" panose="02020603050405020304" pitchFamily="18" charset="0"/>
                <a:ea typeface="Calibri" panose="020F0502020204030204" pitchFamily="34" charset="0"/>
                <a:cs typeface="Times New Roman" panose="02020603050405020304" pitchFamily="18" charset="0"/>
              </a:rPr>
              <a:t>: Monitor and manage the stock of coffee ingredients and other consumables. Simple menu set up, user friendly order management.</a:t>
            </a:r>
          </a:p>
          <a:p>
            <a:pPr marL="0" lvl="0" indent="0">
              <a:spcBef>
                <a:spcPts val="0"/>
              </a:spcBef>
              <a:buNone/>
            </a:pPr>
            <a:endParaRPr lang="en-US" sz="2400" kern="100" dirty="0">
              <a:latin typeface="Times New Roman" panose="02020603050405020304" pitchFamily="18" charset="0"/>
              <a:ea typeface="Calibri" panose="020F0502020204030204" pitchFamily="34" charset="0"/>
              <a:cs typeface="Times New Roman" panose="02020603050405020304" pitchFamily="18" charset="0"/>
            </a:endParaRPr>
          </a:p>
          <a:p>
            <a:pPr marL="0" lvl="0" indent="0">
              <a:spcBef>
                <a:spcPts val="0"/>
              </a:spcBef>
              <a:buNone/>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By implementing the proposed Employee Management System, organizations will benefit from increased efficiency, improved data accuracy, streamlined processes, enhanced communication, and better employee engagement. </a:t>
            </a:r>
          </a:p>
          <a:p>
            <a:pPr lvl="0">
              <a:spcBef>
                <a:spcPts val="0"/>
              </a:spcBef>
              <a:buFont typeface="Wingdings" panose="05000000000000000000" pitchFamily="2" charset="2"/>
              <a:buChar char=""/>
            </a:pPr>
            <a:endParaRPr lang="en-US" sz="2400" kern="100" dirty="0">
              <a:latin typeface="Times New Roman" panose="02020603050405020304" pitchFamily="18" charset="0"/>
              <a:ea typeface="Calibri" panose="020F0502020204030204" pitchFamily="34" charset="0"/>
              <a:cs typeface="Times New Roman" panose="02020603050405020304" pitchFamily="18" charset="0"/>
            </a:endParaRPr>
          </a:p>
          <a:p>
            <a:pPr marL="114300" marR="0" indent="0">
              <a:spcBef>
                <a:spcPts val="0"/>
              </a:spcBef>
              <a:spcAft>
                <a:spcPts val="800"/>
              </a:spcAft>
              <a:buNone/>
            </a:pPr>
            <a:endParaRPr lang="en-US" kern="100" dirty="0">
              <a:latin typeface="Calibri" panose="020F0502020204030204" pitchFamily="34" charset="0"/>
              <a:ea typeface="Calibri" panose="020F0502020204030204" pitchFamily="34" charset="0"/>
              <a:cs typeface="Mangal" panose="02040503050203030202" pitchFamily="18" charset="0"/>
            </a:endParaRPr>
          </a:p>
          <a:p>
            <a:pPr marL="0" indent="0">
              <a:buNone/>
            </a:pPr>
            <a:endParaRPr lang="en-US" dirty="0"/>
          </a:p>
        </p:txBody>
      </p:sp>
    </p:spTree>
    <p:extLst>
      <p:ext uri="{BB962C8B-B14F-4D97-AF65-F5344CB8AC3E}">
        <p14:creationId xmlns:p14="http://schemas.microsoft.com/office/powerpoint/2010/main" val="2325632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A9B7A-135C-995F-5D35-9A208B8B3A70}"/>
              </a:ext>
            </a:extLst>
          </p:cNvPr>
          <p:cNvSpPr>
            <a:spLocks noGrp="1"/>
          </p:cNvSpPr>
          <p:nvPr>
            <p:ph type="title"/>
          </p:nvPr>
        </p:nvSpPr>
        <p:spPr>
          <a:xfrm>
            <a:off x="-1348065" y="564205"/>
            <a:ext cx="8911687" cy="1280890"/>
          </a:xfrm>
        </p:spPr>
        <p:txBody>
          <a:bodyPr>
            <a:normAutofit/>
          </a:bodyPr>
          <a:lstStyle/>
          <a:p>
            <a:pPr algn="ctr"/>
            <a:r>
              <a:rPr lang="en-US" sz="4400" b="1" dirty="0">
                <a:solidFill>
                  <a:schemeClr val="tx1"/>
                </a:solidFill>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81364F39-3927-3F4F-ABF1-449814174315}"/>
              </a:ext>
            </a:extLst>
          </p:cNvPr>
          <p:cNvSpPr>
            <a:spLocks noGrp="1"/>
          </p:cNvSpPr>
          <p:nvPr>
            <p:ph idx="1"/>
          </p:nvPr>
        </p:nvSpPr>
        <p:spPr>
          <a:xfrm>
            <a:off x="677334" y="1391479"/>
            <a:ext cx="11514666" cy="4649884"/>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Multiple user access: Allows multiple type users admin/employee</a:t>
            </a:r>
          </a:p>
          <a:p>
            <a:r>
              <a:rPr lang="en-US" sz="2400" b="1" dirty="0">
                <a:latin typeface="Times New Roman" panose="02020603050405020304" pitchFamily="18" charset="0"/>
                <a:cs typeface="Times New Roman" panose="02020603050405020304" pitchFamily="18" charset="0"/>
              </a:rPr>
              <a:t>Functional Admin panel</a:t>
            </a:r>
            <a:r>
              <a:rPr lang="en-US" sz="2400" dirty="0">
                <a:latin typeface="Times New Roman" panose="02020603050405020304" pitchFamily="18" charset="0"/>
                <a:cs typeface="Times New Roman" panose="02020603050405020304" pitchFamily="18" charset="0"/>
              </a:rPr>
              <a:t>:  Allows admins to manage the whole system</a:t>
            </a:r>
          </a:p>
          <a:p>
            <a:r>
              <a:rPr lang="en-US" sz="2400" b="1" dirty="0">
                <a:latin typeface="Times New Roman" panose="02020603050405020304" pitchFamily="18" charset="0"/>
                <a:cs typeface="Times New Roman" panose="02020603050405020304" pitchFamily="18" charset="0"/>
              </a:rPr>
              <a:t>CRUD functionalities</a:t>
            </a:r>
            <a:r>
              <a:rPr lang="en-US" sz="2400" dirty="0">
                <a:latin typeface="Times New Roman" panose="02020603050405020304" pitchFamily="18" charset="0"/>
                <a:cs typeface="Times New Roman" panose="02020603050405020304" pitchFamily="18" charset="0"/>
              </a:rPr>
              <a:t>:  Allows admin to create, read, update and delete their product data in a managed format </a:t>
            </a:r>
          </a:p>
          <a:p>
            <a:r>
              <a:rPr lang="en-US" sz="2400" b="1" dirty="0">
                <a:latin typeface="Times New Roman" panose="02020603050405020304" pitchFamily="18" charset="0"/>
                <a:cs typeface="Times New Roman" panose="02020603050405020304" pitchFamily="18" charset="0"/>
              </a:rPr>
              <a:t>Secure login </a:t>
            </a:r>
            <a:r>
              <a:rPr lang="en-US" sz="2400" dirty="0">
                <a:latin typeface="Times New Roman" panose="02020603050405020304" pitchFamily="18" charset="0"/>
                <a:cs typeface="Times New Roman" panose="02020603050405020304" pitchFamily="18" charset="0"/>
              </a:rPr>
              <a:t>option for admin</a:t>
            </a:r>
          </a:p>
          <a:p>
            <a:r>
              <a:rPr lang="en-US" sz="2400" b="1" dirty="0">
                <a:latin typeface="Times New Roman" panose="02020603050405020304" pitchFamily="18" charset="0"/>
                <a:cs typeface="Times New Roman" panose="02020603050405020304" pitchFamily="18" charset="0"/>
              </a:rPr>
              <a:t>Allows employee </a:t>
            </a:r>
            <a:r>
              <a:rPr lang="en-US" sz="2400" dirty="0">
                <a:latin typeface="Times New Roman" panose="02020603050405020304" pitchFamily="18" charset="0"/>
                <a:cs typeface="Times New Roman" panose="02020603050405020304" pitchFamily="18" charset="0"/>
              </a:rPr>
              <a:t>to manage billing details of products easily.</a:t>
            </a:r>
          </a:p>
          <a:p>
            <a:r>
              <a:rPr lang="en-US" sz="2400" b="1" dirty="0">
                <a:latin typeface="Times New Roman" panose="02020603050405020304" pitchFamily="18" charset="0"/>
                <a:cs typeface="Times New Roman" panose="02020603050405020304" pitchFamily="18" charset="0"/>
              </a:rPr>
              <a:t>Report Generation </a:t>
            </a:r>
            <a:r>
              <a:rPr lang="en-US" sz="2400" dirty="0">
                <a:latin typeface="Times New Roman" panose="02020603050405020304" pitchFamily="18" charset="0"/>
                <a:cs typeface="Times New Roman" panose="02020603050405020304" pitchFamily="18" charset="0"/>
              </a:rPr>
              <a:t>for the products to track the inventory</a:t>
            </a:r>
          </a:p>
          <a:p>
            <a:pPr marL="0" indent="0">
              <a:buNone/>
            </a:pPr>
            <a:endParaRPr lang="en-US" dirty="0"/>
          </a:p>
        </p:txBody>
      </p:sp>
    </p:spTree>
    <p:extLst>
      <p:ext uri="{BB962C8B-B14F-4D97-AF65-F5344CB8AC3E}">
        <p14:creationId xmlns:p14="http://schemas.microsoft.com/office/powerpoint/2010/main" val="3237077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D19E6-889E-FB45-4AB9-4A340B0126CE}"/>
              </a:ext>
            </a:extLst>
          </p:cNvPr>
          <p:cNvSpPr>
            <a:spLocks noGrp="1"/>
          </p:cNvSpPr>
          <p:nvPr>
            <p:ph type="title"/>
          </p:nvPr>
        </p:nvSpPr>
        <p:spPr>
          <a:xfrm>
            <a:off x="1031017" y="571872"/>
            <a:ext cx="8911687" cy="1280890"/>
          </a:xfrm>
        </p:spPr>
        <p:txBody>
          <a:bodyPr>
            <a:normAutofit/>
          </a:bodyPr>
          <a:lstStyle/>
          <a:p>
            <a:pPr algn="ctr"/>
            <a:r>
              <a:rPr lang="en-US" sz="4400" b="1" dirty="0">
                <a:solidFill>
                  <a:schemeClr val="tx1"/>
                </a:solidFill>
                <a:latin typeface="Times New Roman" panose="02020603050405020304" pitchFamily="18" charset="0"/>
                <a:cs typeface="Times New Roman" panose="02020603050405020304" pitchFamily="18" charset="0"/>
              </a:rPr>
              <a:t>HARDWARE REQUIREMENT</a:t>
            </a:r>
          </a:p>
        </p:txBody>
      </p:sp>
      <p:sp>
        <p:nvSpPr>
          <p:cNvPr id="3" name="Content Placeholder 2">
            <a:extLst>
              <a:ext uri="{FF2B5EF4-FFF2-40B4-BE49-F238E27FC236}">
                <a16:creationId xmlns:a16="http://schemas.microsoft.com/office/drawing/2014/main" id="{1CB910F9-1274-0ED7-682B-F73724875026}"/>
              </a:ext>
            </a:extLst>
          </p:cNvPr>
          <p:cNvSpPr>
            <a:spLocks noGrp="1"/>
          </p:cNvSpPr>
          <p:nvPr>
            <p:ph idx="1"/>
          </p:nvPr>
        </p:nvSpPr>
        <p:spPr>
          <a:xfrm>
            <a:off x="677334" y="1930400"/>
            <a:ext cx="11287504" cy="3602478"/>
          </a:xfrm>
        </p:spPr>
        <p:txBody>
          <a:bodyPr/>
          <a:lstStyle/>
          <a:p>
            <a:pPr lvl="0">
              <a:lnSpc>
                <a:spcPct val="107000"/>
              </a:lnSpc>
              <a:spcBef>
                <a:spcPts val="0"/>
              </a:spcBef>
              <a:buFont typeface="Wingdings" panose="05000000000000000000" pitchFamily="2" charset="2"/>
              <a:buChar char=""/>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Hardware Requirements -</a:t>
            </a:r>
          </a:p>
          <a:p>
            <a:pPr lvl="0">
              <a:lnSpc>
                <a:spcPct val="107000"/>
              </a:lnSpc>
              <a:spcBef>
                <a:spcPts val="0"/>
              </a:spcBef>
              <a:buFont typeface="Wingdings" panose="05000000000000000000" pitchFamily="2" charset="2"/>
              <a:buChar char=""/>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Processor: </a:t>
            </a:r>
            <a:r>
              <a:rPr lang="en-US" sz="2400" kern="100" dirty="0">
                <a:latin typeface="Times New Roman" panose="02020603050405020304" pitchFamily="18" charset="0"/>
                <a:ea typeface="Calibri" panose="020F0502020204030204" pitchFamily="34" charset="0"/>
                <a:cs typeface="Times New Roman" panose="02020603050405020304" pitchFamily="18" charset="0"/>
              </a:rPr>
              <a:t>Intel I3 2.8 GHz Processor and Above </a:t>
            </a:r>
          </a:p>
          <a:p>
            <a:pPr lvl="0">
              <a:lnSpc>
                <a:spcPct val="107000"/>
              </a:lnSpc>
              <a:spcBef>
                <a:spcPts val="0"/>
              </a:spcBef>
              <a:buFont typeface="Wingdings" panose="05000000000000000000" pitchFamily="2" charset="2"/>
              <a:buChar char=""/>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RAM:</a:t>
            </a:r>
            <a:r>
              <a:rPr lang="en-US" sz="2400" kern="100" dirty="0">
                <a:latin typeface="Times New Roman" panose="02020603050405020304" pitchFamily="18" charset="0"/>
                <a:ea typeface="Calibri" panose="020F0502020204030204" pitchFamily="34" charset="0"/>
                <a:cs typeface="Times New Roman" panose="02020603050405020304" pitchFamily="18" charset="0"/>
              </a:rPr>
              <a:t> 4 GB and Above</a:t>
            </a:r>
          </a:p>
          <a:p>
            <a:pPr lvl="0">
              <a:lnSpc>
                <a:spcPct val="107000"/>
              </a:lnSpc>
              <a:spcBef>
                <a:spcPts val="0"/>
              </a:spcBef>
              <a:buFont typeface="Wingdings" panose="05000000000000000000" pitchFamily="2" charset="2"/>
              <a:buChar char=""/>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Operative Memory required for the software 500MB</a:t>
            </a:r>
          </a:p>
          <a:p>
            <a:pPr lvl="0">
              <a:lnSpc>
                <a:spcPct val="107000"/>
              </a:lnSpc>
              <a:spcBef>
                <a:spcPts val="0"/>
              </a:spcBef>
              <a:buFont typeface="Wingdings" panose="05000000000000000000" pitchFamily="2" charset="2"/>
              <a:buChar char=""/>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500 MB of free disk space for Eclipse installation</a:t>
            </a:r>
          </a:p>
          <a:p>
            <a:pPr lvl="0">
              <a:lnSpc>
                <a:spcPct val="107000"/>
              </a:lnSpc>
              <a:spcBef>
                <a:spcPts val="0"/>
              </a:spcBef>
              <a:buFont typeface="Wingdings" panose="05000000000000000000" pitchFamily="2" charset="2"/>
              <a:buChar char=""/>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Additional disk space for your projects and any additional plugins or extensions</a:t>
            </a:r>
          </a:p>
          <a:p>
            <a:pPr lvl="0">
              <a:lnSpc>
                <a:spcPct val="107000"/>
              </a:lnSpc>
              <a:spcBef>
                <a:spcPts val="0"/>
              </a:spcBef>
              <a:buFont typeface="Wingdings" panose="05000000000000000000" pitchFamily="2" charset="2"/>
              <a:buChar char=""/>
            </a:pPr>
            <a:endParaRPr lang="en-US" sz="2400" b="1" kern="100" dirty="0">
              <a:latin typeface="Aparajita" panose="02020603050405020304" pitchFamily="18" charset="0"/>
              <a:ea typeface="Calibri" panose="020F0502020204030204" pitchFamily="34" charset="0"/>
              <a:cs typeface="Aparajita" panose="02020603050405020304" pitchFamily="18" charset="0"/>
            </a:endParaRPr>
          </a:p>
          <a:p>
            <a:pPr marL="0" indent="0">
              <a:buNone/>
            </a:pPr>
            <a:endParaRPr lang="en-US" dirty="0"/>
          </a:p>
        </p:txBody>
      </p:sp>
    </p:spTree>
    <p:extLst>
      <p:ext uri="{BB962C8B-B14F-4D97-AF65-F5344CB8AC3E}">
        <p14:creationId xmlns:p14="http://schemas.microsoft.com/office/powerpoint/2010/main" val="3300867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C8B6E-9A2F-CBD0-FA0C-99A2AEA17A9C}"/>
              </a:ext>
            </a:extLst>
          </p:cNvPr>
          <p:cNvSpPr>
            <a:spLocks noGrp="1"/>
          </p:cNvSpPr>
          <p:nvPr>
            <p:ph type="title"/>
          </p:nvPr>
        </p:nvSpPr>
        <p:spPr>
          <a:xfrm>
            <a:off x="945279" y="563725"/>
            <a:ext cx="8911687" cy="1280890"/>
          </a:xfrm>
        </p:spPr>
        <p:txBody>
          <a:bodyPr>
            <a:normAutofit/>
          </a:bodyPr>
          <a:lstStyle/>
          <a:p>
            <a:pPr algn="ctr"/>
            <a:r>
              <a:rPr lang="en-US" sz="4400" b="1" dirty="0">
                <a:solidFill>
                  <a:schemeClr val="tx1"/>
                </a:solidFill>
                <a:latin typeface="Times New Roman" panose="02020603050405020304" pitchFamily="18" charset="0"/>
                <a:cs typeface="Times New Roman" panose="02020603050405020304" pitchFamily="18" charset="0"/>
              </a:rPr>
              <a:t>SOFTWARE REQUIREMENT</a:t>
            </a:r>
          </a:p>
        </p:txBody>
      </p:sp>
      <p:sp>
        <p:nvSpPr>
          <p:cNvPr id="3" name="Content Placeholder 2">
            <a:extLst>
              <a:ext uri="{FF2B5EF4-FFF2-40B4-BE49-F238E27FC236}">
                <a16:creationId xmlns:a16="http://schemas.microsoft.com/office/drawing/2014/main" id="{EF30D2CE-90C8-5709-EB91-513DE8EFBD09}"/>
              </a:ext>
            </a:extLst>
          </p:cNvPr>
          <p:cNvSpPr>
            <a:spLocks noGrp="1"/>
          </p:cNvSpPr>
          <p:nvPr>
            <p:ph idx="1"/>
          </p:nvPr>
        </p:nvSpPr>
        <p:spPr>
          <a:xfrm>
            <a:off x="677334" y="1696279"/>
            <a:ext cx="8596668" cy="4345084"/>
          </a:xfrm>
        </p:spPr>
        <p:txBody>
          <a:bodyPr>
            <a:normAutofit/>
          </a:bodyPr>
          <a:lstStyle/>
          <a:p>
            <a:pPr lvl="0">
              <a:lnSpc>
                <a:spcPct val="107000"/>
              </a:lnSpc>
              <a:spcBef>
                <a:spcPts val="0"/>
              </a:spcBef>
              <a:spcAft>
                <a:spcPts val="800"/>
              </a:spcAft>
              <a:buFont typeface="Wingdings" panose="05000000000000000000" pitchFamily="2" charset="2"/>
              <a:buChar char=""/>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Operating System</a:t>
            </a:r>
            <a:r>
              <a:rPr lang="en-US" sz="2400" kern="100" dirty="0">
                <a:latin typeface="Times New Roman" panose="02020603050405020304" pitchFamily="18" charset="0"/>
                <a:ea typeface="Calibri" panose="020F0502020204030204" pitchFamily="34" charset="0"/>
                <a:cs typeface="Times New Roman" panose="02020603050405020304" pitchFamily="18" charset="0"/>
              </a:rPr>
              <a:t>: WINDOWS OS (Windows 10,11) </a:t>
            </a:r>
          </a:p>
          <a:p>
            <a:pPr lvl="0">
              <a:lnSpc>
                <a:spcPct val="107000"/>
              </a:lnSpc>
              <a:spcBef>
                <a:spcPts val="0"/>
              </a:spcBef>
              <a:spcAft>
                <a:spcPts val="800"/>
              </a:spcAft>
              <a:buFont typeface="Wingdings" panose="05000000000000000000" pitchFamily="2" charset="2"/>
              <a:buChar char=""/>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Frontend</a:t>
            </a:r>
            <a:r>
              <a:rPr lang="en-US" sz="2400" kern="100" dirty="0">
                <a:latin typeface="Times New Roman" panose="02020603050405020304" pitchFamily="18" charset="0"/>
                <a:ea typeface="Calibri" panose="020F0502020204030204" pitchFamily="34" charset="0"/>
                <a:cs typeface="Times New Roman" panose="02020603050405020304" pitchFamily="18" charset="0"/>
              </a:rPr>
              <a:t>: VB.NET</a:t>
            </a:r>
          </a:p>
          <a:p>
            <a:pPr lvl="0">
              <a:lnSpc>
                <a:spcPct val="107000"/>
              </a:lnSpc>
              <a:spcBef>
                <a:spcPts val="0"/>
              </a:spcBef>
              <a:spcAft>
                <a:spcPts val="800"/>
              </a:spcAft>
              <a:buFont typeface="Wingdings" panose="05000000000000000000" pitchFamily="2" charset="2"/>
              <a:buChar char=""/>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Backend</a:t>
            </a:r>
            <a:r>
              <a:rPr lang="en-US" sz="2400" kern="100" dirty="0">
                <a:latin typeface="Times New Roman" panose="02020603050405020304" pitchFamily="18" charset="0"/>
                <a:ea typeface="Calibri" panose="020F0502020204030204" pitchFamily="34" charset="0"/>
                <a:cs typeface="Times New Roman" panose="02020603050405020304" pitchFamily="18" charset="0"/>
              </a:rPr>
              <a:t>: SQL Server For Database Connectivity</a:t>
            </a:r>
          </a:p>
          <a:p>
            <a:pPr lvl="0">
              <a:lnSpc>
                <a:spcPct val="107000"/>
              </a:lnSpc>
              <a:spcBef>
                <a:spcPts val="0"/>
              </a:spcBef>
              <a:spcAft>
                <a:spcPts val="800"/>
              </a:spcAft>
              <a:buFont typeface="Wingdings" panose="05000000000000000000" pitchFamily="2" charset="2"/>
              <a:buChar char=""/>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Integrated Development Environment (IDE</a:t>
            </a:r>
            <a:r>
              <a:rPr lang="en-US" sz="2400" kern="100" dirty="0">
                <a:latin typeface="Times New Roman" panose="02020603050405020304" pitchFamily="18" charset="0"/>
                <a:ea typeface="Calibri" panose="020F0502020204030204" pitchFamily="34" charset="0"/>
                <a:cs typeface="Times New Roman" panose="02020603050405020304" pitchFamily="18" charset="0"/>
              </a:rPr>
              <a:t>): Visual Studio 2019</a:t>
            </a:r>
          </a:p>
          <a:p>
            <a:pPr marL="0" marR="0" indent="0">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Mangal" panose="02040503050203030202" pitchFamily="18" charset="0"/>
            </a:endParaRPr>
          </a:p>
          <a:p>
            <a:endParaRPr lang="en-US" dirty="0"/>
          </a:p>
        </p:txBody>
      </p:sp>
    </p:spTree>
    <p:extLst>
      <p:ext uri="{BB962C8B-B14F-4D97-AF65-F5344CB8AC3E}">
        <p14:creationId xmlns:p14="http://schemas.microsoft.com/office/powerpoint/2010/main" val="309795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A56C8-8C4E-93FC-C242-43A452F3991C}"/>
              </a:ext>
            </a:extLst>
          </p:cNvPr>
          <p:cNvSpPr>
            <a:spLocks noGrp="1"/>
          </p:cNvSpPr>
          <p:nvPr>
            <p:ph type="title"/>
          </p:nvPr>
        </p:nvSpPr>
        <p:spPr>
          <a:xfrm>
            <a:off x="-1317333" y="649085"/>
            <a:ext cx="8596668" cy="437322"/>
          </a:xfrm>
        </p:spPr>
        <p:txBody>
          <a:bodyPr>
            <a:normAutofit fontScale="90000"/>
          </a:bodyPr>
          <a:lstStyle/>
          <a:p>
            <a:pPr algn="ctr"/>
            <a:r>
              <a:rPr lang="en-US" b="1" dirty="0">
                <a:solidFill>
                  <a:schemeClr val="tx1"/>
                </a:solidFill>
                <a:latin typeface="+mn-lt"/>
                <a:cs typeface="Aparajita" panose="02020603050405020304" pitchFamily="18" charset="0"/>
              </a:rPr>
              <a:t>ER-DIAGRAM</a:t>
            </a:r>
          </a:p>
        </p:txBody>
      </p:sp>
      <p:pic>
        <p:nvPicPr>
          <p:cNvPr id="6" name="Content Placeholder 5">
            <a:extLst>
              <a:ext uri="{FF2B5EF4-FFF2-40B4-BE49-F238E27FC236}">
                <a16:creationId xmlns:a16="http://schemas.microsoft.com/office/drawing/2014/main" id="{6620B2D0-564F-4396-B672-56E28EB3E4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5247" y="992744"/>
            <a:ext cx="9646861" cy="5452304"/>
          </a:xfrm>
        </p:spPr>
      </p:pic>
    </p:spTree>
    <p:extLst>
      <p:ext uri="{BB962C8B-B14F-4D97-AF65-F5344CB8AC3E}">
        <p14:creationId xmlns:p14="http://schemas.microsoft.com/office/powerpoint/2010/main" val="2550217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35FD-1192-B7AF-53D6-B9EF41FDEA0C}"/>
              </a:ext>
            </a:extLst>
          </p:cNvPr>
          <p:cNvSpPr>
            <a:spLocks noGrp="1"/>
          </p:cNvSpPr>
          <p:nvPr>
            <p:ph type="title"/>
          </p:nvPr>
        </p:nvSpPr>
        <p:spPr>
          <a:xfrm>
            <a:off x="-2596392" y="681734"/>
            <a:ext cx="12191999" cy="530087"/>
          </a:xfrm>
        </p:spPr>
        <p:txBody>
          <a:bodyPr>
            <a:normAutofit fontScale="90000"/>
          </a:bodyPr>
          <a:lstStyle/>
          <a:p>
            <a:pPr algn="ctr"/>
            <a:r>
              <a:rPr lang="en-US" b="1" dirty="0">
                <a:solidFill>
                  <a:schemeClr val="tx1"/>
                </a:solidFill>
                <a:latin typeface="+mn-lt"/>
                <a:cs typeface="Aparajita" panose="02020603050405020304" pitchFamily="18" charset="0"/>
              </a:rPr>
              <a:t>ACTIVITY DIAGRAM</a:t>
            </a:r>
          </a:p>
        </p:txBody>
      </p:sp>
      <p:pic>
        <p:nvPicPr>
          <p:cNvPr id="7" name="Content Placeholder 6">
            <a:extLst>
              <a:ext uri="{FF2B5EF4-FFF2-40B4-BE49-F238E27FC236}">
                <a16:creationId xmlns:a16="http://schemas.microsoft.com/office/drawing/2014/main" id="{D50FE461-786C-4D09-AE77-7F2B1B73E7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83564" y="766617"/>
            <a:ext cx="4618182" cy="5914471"/>
          </a:xfrm>
        </p:spPr>
      </p:pic>
    </p:spTree>
    <p:extLst>
      <p:ext uri="{BB962C8B-B14F-4D97-AF65-F5344CB8AC3E}">
        <p14:creationId xmlns:p14="http://schemas.microsoft.com/office/powerpoint/2010/main" val="4277597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17FB2-EF3A-3909-E1AF-2000EC83AB45}"/>
              </a:ext>
            </a:extLst>
          </p:cNvPr>
          <p:cNvSpPr>
            <a:spLocks noGrp="1"/>
          </p:cNvSpPr>
          <p:nvPr>
            <p:ph type="title"/>
          </p:nvPr>
        </p:nvSpPr>
        <p:spPr>
          <a:xfrm>
            <a:off x="-2786157" y="634601"/>
            <a:ext cx="12192000" cy="503583"/>
          </a:xfrm>
        </p:spPr>
        <p:txBody>
          <a:bodyPr>
            <a:normAutofit fontScale="90000"/>
          </a:bodyPr>
          <a:lstStyle/>
          <a:p>
            <a:pPr algn="ctr"/>
            <a:r>
              <a:rPr lang="en-US" b="1" dirty="0">
                <a:solidFill>
                  <a:schemeClr val="tx1"/>
                </a:solidFill>
                <a:latin typeface="+mn-lt"/>
                <a:cs typeface="Aparajita" panose="02020603050405020304" pitchFamily="18" charset="0"/>
              </a:rPr>
              <a:t>CLASS DIAGRAM</a:t>
            </a:r>
          </a:p>
        </p:txBody>
      </p:sp>
      <p:pic>
        <p:nvPicPr>
          <p:cNvPr id="7" name="Content Placeholder 6">
            <a:extLst>
              <a:ext uri="{FF2B5EF4-FFF2-40B4-BE49-F238E27FC236}">
                <a16:creationId xmlns:a16="http://schemas.microsoft.com/office/drawing/2014/main" id="{93D0ED11-0154-46AE-B920-890A5E6C87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30647" y="1331431"/>
            <a:ext cx="4730705" cy="4660398"/>
          </a:xfrm>
        </p:spPr>
      </p:pic>
    </p:spTree>
    <p:extLst>
      <p:ext uri="{BB962C8B-B14F-4D97-AF65-F5344CB8AC3E}">
        <p14:creationId xmlns:p14="http://schemas.microsoft.com/office/powerpoint/2010/main" val="1522288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22108-99A3-7A0D-CF22-9AAE3FE4F48B}"/>
              </a:ext>
            </a:extLst>
          </p:cNvPr>
          <p:cNvSpPr>
            <a:spLocks noGrp="1"/>
          </p:cNvSpPr>
          <p:nvPr>
            <p:ph type="title"/>
          </p:nvPr>
        </p:nvSpPr>
        <p:spPr>
          <a:xfrm>
            <a:off x="-2410691" y="681282"/>
            <a:ext cx="12192000" cy="662609"/>
          </a:xfrm>
        </p:spPr>
        <p:txBody>
          <a:bodyPr>
            <a:normAutofit/>
          </a:bodyPr>
          <a:lstStyle/>
          <a:p>
            <a:pPr algn="ctr"/>
            <a:r>
              <a:rPr lang="en-US" sz="3200" b="1" dirty="0">
                <a:solidFill>
                  <a:schemeClr val="tx1"/>
                </a:solidFill>
                <a:latin typeface="+mn-lt"/>
                <a:cs typeface="Aparajita" panose="02020603050405020304" pitchFamily="18" charset="0"/>
              </a:rPr>
              <a:t>SEQUENCE DIAGRAM</a:t>
            </a:r>
          </a:p>
        </p:txBody>
      </p:sp>
      <p:pic>
        <p:nvPicPr>
          <p:cNvPr id="7" name="Content Placeholder 6">
            <a:extLst>
              <a:ext uri="{FF2B5EF4-FFF2-40B4-BE49-F238E27FC236}">
                <a16:creationId xmlns:a16="http://schemas.microsoft.com/office/drawing/2014/main" id="{A3862722-5431-4A82-A1DC-B4FF2D09F6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49964" y="1579417"/>
            <a:ext cx="6031345" cy="4936395"/>
          </a:xfrm>
        </p:spPr>
      </p:pic>
    </p:spTree>
    <p:extLst>
      <p:ext uri="{BB962C8B-B14F-4D97-AF65-F5344CB8AC3E}">
        <p14:creationId xmlns:p14="http://schemas.microsoft.com/office/powerpoint/2010/main" val="326629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5B9F5-8B17-6186-77B0-C3E8BDE98780}"/>
              </a:ext>
            </a:extLst>
          </p:cNvPr>
          <p:cNvSpPr>
            <a:spLocks noGrp="1"/>
          </p:cNvSpPr>
          <p:nvPr>
            <p:ph type="title"/>
          </p:nvPr>
        </p:nvSpPr>
        <p:spPr>
          <a:xfrm>
            <a:off x="-3075709" y="685298"/>
            <a:ext cx="12192000" cy="649357"/>
          </a:xfrm>
        </p:spPr>
        <p:txBody>
          <a:bodyPr>
            <a:noAutofit/>
          </a:bodyPr>
          <a:lstStyle/>
          <a:p>
            <a:pPr algn="ctr"/>
            <a:r>
              <a:rPr lang="en-US" sz="3200" b="1" dirty="0">
                <a:solidFill>
                  <a:schemeClr val="tx1"/>
                </a:solidFill>
                <a:latin typeface="+mn-lt"/>
                <a:cs typeface="Aparajita" panose="02020603050405020304" pitchFamily="18" charset="0"/>
              </a:rPr>
              <a:t>STATE CHART</a:t>
            </a:r>
          </a:p>
        </p:txBody>
      </p:sp>
      <p:pic>
        <p:nvPicPr>
          <p:cNvPr id="11" name="Content Placeholder 10">
            <a:extLst>
              <a:ext uri="{FF2B5EF4-FFF2-40B4-BE49-F238E27FC236}">
                <a16:creationId xmlns:a16="http://schemas.microsoft.com/office/drawing/2014/main" id="{B26A73EE-5E77-4BD5-B8B8-519D02C304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62402" y="1641836"/>
            <a:ext cx="8467196" cy="4306382"/>
          </a:xfrm>
        </p:spPr>
      </p:pic>
    </p:spTree>
    <p:extLst>
      <p:ext uri="{BB962C8B-B14F-4D97-AF65-F5344CB8AC3E}">
        <p14:creationId xmlns:p14="http://schemas.microsoft.com/office/powerpoint/2010/main" val="3165554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06AC9-4953-5362-AE23-1AAD91B03F3E}"/>
              </a:ext>
            </a:extLst>
          </p:cNvPr>
          <p:cNvSpPr>
            <a:spLocks noGrp="1"/>
          </p:cNvSpPr>
          <p:nvPr>
            <p:ph type="title"/>
          </p:nvPr>
        </p:nvSpPr>
        <p:spPr>
          <a:xfrm>
            <a:off x="-2760133" y="698316"/>
            <a:ext cx="11514666" cy="715617"/>
          </a:xfrm>
        </p:spPr>
        <p:txBody>
          <a:bodyPr>
            <a:normAutofit/>
          </a:bodyPr>
          <a:lstStyle/>
          <a:p>
            <a:pPr algn="ctr"/>
            <a:r>
              <a:rPr lang="en-US" sz="3200" b="1" dirty="0">
                <a:solidFill>
                  <a:schemeClr val="tx1"/>
                </a:solidFill>
                <a:latin typeface="+mn-lt"/>
                <a:cs typeface="Times New Roman" panose="02020603050405020304" pitchFamily="18" charset="0"/>
              </a:rPr>
              <a:t>DFD LEVEL - 0</a:t>
            </a:r>
          </a:p>
        </p:txBody>
      </p:sp>
      <p:pic>
        <p:nvPicPr>
          <p:cNvPr id="7" name="Content Placeholder 6">
            <a:extLst>
              <a:ext uri="{FF2B5EF4-FFF2-40B4-BE49-F238E27FC236}">
                <a16:creationId xmlns:a16="http://schemas.microsoft.com/office/drawing/2014/main" id="{2FA97495-17B0-4405-BDE4-245B7ADED1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8091" y="2310357"/>
            <a:ext cx="9935817" cy="1836770"/>
          </a:xfrm>
        </p:spPr>
      </p:pic>
    </p:spTree>
    <p:extLst>
      <p:ext uri="{BB962C8B-B14F-4D97-AF65-F5344CB8AC3E}">
        <p14:creationId xmlns:p14="http://schemas.microsoft.com/office/powerpoint/2010/main" val="1979809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240E2-3ABD-DA2B-C12A-735602A6E616}"/>
              </a:ext>
            </a:extLst>
          </p:cNvPr>
          <p:cNvSpPr>
            <a:spLocks noGrp="1"/>
          </p:cNvSpPr>
          <p:nvPr>
            <p:ph type="title"/>
          </p:nvPr>
        </p:nvSpPr>
        <p:spPr>
          <a:xfrm>
            <a:off x="-1389255" y="689098"/>
            <a:ext cx="8596668" cy="636104"/>
          </a:xfrm>
        </p:spPr>
        <p:txBody>
          <a:bodyPr>
            <a:normAutofit fontScale="90000"/>
          </a:bodyPr>
          <a:lstStyle/>
          <a:p>
            <a:pPr algn="ctr"/>
            <a:r>
              <a:rPr lang="en-US" b="1" dirty="0">
                <a:solidFill>
                  <a:schemeClr val="tx1"/>
                </a:solidFill>
                <a:latin typeface="+mn-lt"/>
                <a:cs typeface="Aparajita" panose="02020603050405020304" pitchFamily="18" charset="0"/>
              </a:rPr>
              <a:t>DFD LEVEL - 1</a:t>
            </a:r>
          </a:p>
        </p:txBody>
      </p:sp>
      <p:pic>
        <p:nvPicPr>
          <p:cNvPr id="6" name="Content Placeholder 5">
            <a:extLst>
              <a:ext uri="{FF2B5EF4-FFF2-40B4-BE49-F238E27FC236}">
                <a16:creationId xmlns:a16="http://schemas.microsoft.com/office/drawing/2014/main" id="{65B6ECF1-642D-4D1A-B8A9-CEEEA5939F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01587" y="1823460"/>
            <a:ext cx="8098487" cy="4032395"/>
          </a:xfrm>
        </p:spPr>
      </p:pic>
    </p:spTree>
    <p:extLst>
      <p:ext uri="{BB962C8B-B14F-4D97-AF65-F5344CB8AC3E}">
        <p14:creationId xmlns:p14="http://schemas.microsoft.com/office/powerpoint/2010/main" val="786205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324BA-64D2-DB97-9FC9-756865EB6E08}"/>
              </a:ext>
            </a:extLst>
          </p:cNvPr>
          <p:cNvSpPr>
            <a:spLocks noGrp="1"/>
          </p:cNvSpPr>
          <p:nvPr>
            <p:ph type="title"/>
          </p:nvPr>
        </p:nvSpPr>
        <p:spPr>
          <a:xfrm>
            <a:off x="-663220" y="691739"/>
            <a:ext cx="8596668" cy="662609"/>
          </a:xfrm>
        </p:spPr>
        <p:txBody>
          <a:bodyPr>
            <a:normAutofit/>
          </a:bodyPr>
          <a:lstStyle/>
          <a:p>
            <a:pPr algn="ctr"/>
            <a:r>
              <a:rPr lang="en-US" sz="3200" b="1" dirty="0">
                <a:solidFill>
                  <a:schemeClr val="tx1"/>
                </a:solidFill>
                <a:latin typeface="+mn-lt"/>
                <a:cs typeface="Aparajita" panose="02020603050405020304" pitchFamily="18" charset="0"/>
              </a:rPr>
              <a:t>USE-CASE DIAGRAM</a:t>
            </a:r>
          </a:p>
        </p:txBody>
      </p:sp>
      <p:pic>
        <p:nvPicPr>
          <p:cNvPr id="6" name="Content Placeholder 5">
            <a:extLst>
              <a:ext uri="{FF2B5EF4-FFF2-40B4-BE49-F238E27FC236}">
                <a16:creationId xmlns:a16="http://schemas.microsoft.com/office/drawing/2014/main" id="{91F8E33D-CDED-48FB-92C6-00C6C13BFE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8137" y="1634403"/>
            <a:ext cx="8214964" cy="4323052"/>
          </a:xfrm>
        </p:spPr>
      </p:pic>
    </p:spTree>
    <p:extLst>
      <p:ext uri="{BB962C8B-B14F-4D97-AF65-F5344CB8AC3E}">
        <p14:creationId xmlns:p14="http://schemas.microsoft.com/office/powerpoint/2010/main" val="1603597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56F2E23-AAF5-4D38-B5D2-41FC997FDEBE}"/>
              </a:ext>
            </a:extLst>
          </p:cNvPr>
          <p:cNvSpPr/>
          <p:nvPr/>
        </p:nvSpPr>
        <p:spPr>
          <a:xfrm>
            <a:off x="1570819" y="687400"/>
            <a:ext cx="4828566" cy="584775"/>
          </a:xfrm>
          <a:prstGeom prst="rect">
            <a:avLst/>
          </a:prstGeom>
        </p:spPr>
        <p:txBody>
          <a:bodyPr wrap="none">
            <a:spAutoFit/>
          </a:bodyPr>
          <a:lstStyle/>
          <a:p>
            <a:r>
              <a:rPr lang="en-US" sz="3200" b="1" dirty="0"/>
              <a:t>DEPLOYMENT DIAGRAM</a:t>
            </a:r>
          </a:p>
        </p:txBody>
      </p:sp>
      <p:pic>
        <p:nvPicPr>
          <p:cNvPr id="8" name="Content Placeholder 7">
            <a:extLst>
              <a:ext uri="{FF2B5EF4-FFF2-40B4-BE49-F238E27FC236}">
                <a16:creationId xmlns:a16="http://schemas.microsoft.com/office/drawing/2014/main" id="{44FF82FE-6A8F-4535-A91D-348959B59F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83345" y="2026282"/>
            <a:ext cx="6225309" cy="4144318"/>
          </a:xfrm>
        </p:spPr>
      </p:pic>
    </p:spTree>
    <p:extLst>
      <p:ext uri="{BB962C8B-B14F-4D97-AF65-F5344CB8AC3E}">
        <p14:creationId xmlns:p14="http://schemas.microsoft.com/office/powerpoint/2010/main" val="2497033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8583304-B4CA-4E1A-96F7-8D87704A43BA}"/>
              </a:ext>
            </a:extLst>
          </p:cNvPr>
          <p:cNvSpPr/>
          <p:nvPr/>
        </p:nvSpPr>
        <p:spPr>
          <a:xfrm>
            <a:off x="1554006" y="645068"/>
            <a:ext cx="4860626" cy="584775"/>
          </a:xfrm>
          <a:prstGeom prst="rect">
            <a:avLst/>
          </a:prstGeom>
        </p:spPr>
        <p:txBody>
          <a:bodyPr wrap="none">
            <a:spAutoFit/>
          </a:bodyPr>
          <a:lstStyle/>
          <a:p>
            <a:r>
              <a:rPr lang="en-US" sz="3200" b="1" dirty="0"/>
              <a:t>COMPONENT DIAGRAM</a:t>
            </a:r>
          </a:p>
        </p:txBody>
      </p:sp>
      <p:pic>
        <p:nvPicPr>
          <p:cNvPr id="9" name="Content Placeholder 8">
            <a:extLst>
              <a:ext uri="{FF2B5EF4-FFF2-40B4-BE49-F238E27FC236}">
                <a16:creationId xmlns:a16="http://schemas.microsoft.com/office/drawing/2014/main" id="{9BE9D862-20DD-4508-9383-C4AF36C2B8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4006" y="1801235"/>
            <a:ext cx="9999311" cy="3685165"/>
          </a:xfrm>
        </p:spPr>
      </p:pic>
    </p:spTree>
    <p:extLst>
      <p:ext uri="{BB962C8B-B14F-4D97-AF65-F5344CB8AC3E}">
        <p14:creationId xmlns:p14="http://schemas.microsoft.com/office/powerpoint/2010/main" val="3631155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EB9B5B69-A297-4D2F-8B89-529DA8A273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5" name="Freeform 11">
              <a:extLst>
                <a:ext uri="{FF2B5EF4-FFF2-40B4-BE49-F238E27FC236}">
                  <a16:creationId xmlns:a16="http://schemas.microsoft.com/office/drawing/2014/main" id="{3E39D215-BF38-4094-82D7-61DED1145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56" name="Freeform 12">
              <a:extLst>
                <a:ext uri="{FF2B5EF4-FFF2-40B4-BE49-F238E27FC236}">
                  <a16:creationId xmlns:a16="http://schemas.microsoft.com/office/drawing/2014/main" id="{7412700A-91C4-4126-8F17-3B9449DBB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7" name="Freeform 13">
              <a:extLst>
                <a:ext uri="{FF2B5EF4-FFF2-40B4-BE49-F238E27FC236}">
                  <a16:creationId xmlns:a16="http://schemas.microsoft.com/office/drawing/2014/main" id="{DF985802-25A8-4B99-89F0-2A42EC325F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57" name="Freeform 14">
              <a:extLst>
                <a:ext uri="{FF2B5EF4-FFF2-40B4-BE49-F238E27FC236}">
                  <a16:creationId xmlns:a16="http://schemas.microsoft.com/office/drawing/2014/main" id="{F54C35AF-DB92-4205-A779-2A385B7143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9" name="Freeform 15">
              <a:extLst>
                <a:ext uri="{FF2B5EF4-FFF2-40B4-BE49-F238E27FC236}">
                  <a16:creationId xmlns:a16="http://schemas.microsoft.com/office/drawing/2014/main" id="{9F845211-1F53-4E0A-891E-B78A206F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58" name="Freeform 16">
              <a:extLst>
                <a:ext uri="{FF2B5EF4-FFF2-40B4-BE49-F238E27FC236}">
                  <a16:creationId xmlns:a16="http://schemas.microsoft.com/office/drawing/2014/main" id="{9149C7DD-9998-4805-BFC8-CEF5F5DF3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21" name="Freeform 17">
              <a:extLst>
                <a:ext uri="{FF2B5EF4-FFF2-40B4-BE49-F238E27FC236}">
                  <a16:creationId xmlns:a16="http://schemas.microsoft.com/office/drawing/2014/main" id="{47C8036D-3ECA-43DA-BAF5-3C65CF4112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2" name="Freeform 18">
              <a:extLst>
                <a:ext uri="{FF2B5EF4-FFF2-40B4-BE49-F238E27FC236}">
                  <a16:creationId xmlns:a16="http://schemas.microsoft.com/office/drawing/2014/main" id="{29C15912-CDE8-4DF3-9324-273FB4C86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3" name="Freeform 19">
              <a:extLst>
                <a:ext uri="{FF2B5EF4-FFF2-40B4-BE49-F238E27FC236}">
                  <a16:creationId xmlns:a16="http://schemas.microsoft.com/office/drawing/2014/main" id="{37C68D51-B7DA-4572-AB7E-708540B3C6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4" name="Freeform 20">
              <a:extLst>
                <a:ext uri="{FF2B5EF4-FFF2-40B4-BE49-F238E27FC236}">
                  <a16:creationId xmlns:a16="http://schemas.microsoft.com/office/drawing/2014/main" id="{1AF802CB-4E9E-4895-9363-C119914909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5" name="Freeform 21">
              <a:extLst>
                <a:ext uri="{FF2B5EF4-FFF2-40B4-BE49-F238E27FC236}">
                  <a16:creationId xmlns:a16="http://schemas.microsoft.com/office/drawing/2014/main" id="{615760E5-5F27-4735-B01C-78E05F3FB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6" name="Freeform 22">
              <a:extLst>
                <a:ext uri="{FF2B5EF4-FFF2-40B4-BE49-F238E27FC236}">
                  <a16:creationId xmlns:a16="http://schemas.microsoft.com/office/drawing/2014/main" id="{DB9C6516-B2DB-432F-BD3A-A1792BD46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8" name="Group 27">
            <a:extLst>
              <a:ext uri="{FF2B5EF4-FFF2-40B4-BE49-F238E27FC236}">
                <a16:creationId xmlns:a16="http://schemas.microsoft.com/office/drawing/2014/main" id="{BC9C8D0D-644B-4B97-B83C-CC8E64361D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9" name="Freeform 27">
              <a:extLst>
                <a:ext uri="{FF2B5EF4-FFF2-40B4-BE49-F238E27FC236}">
                  <a16:creationId xmlns:a16="http://schemas.microsoft.com/office/drawing/2014/main" id="{F8BE1EA6-80CF-446B-A4FE-3F935A51C0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30" name="Freeform 28">
              <a:extLst>
                <a:ext uri="{FF2B5EF4-FFF2-40B4-BE49-F238E27FC236}">
                  <a16:creationId xmlns:a16="http://schemas.microsoft.com/office/drawing/2014/main" id="{10E39808-F4F7-43DE-AB53-82B7B55EA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31" name="Freeform 29">
              <a:extLst>
                <a:ext uri="{FF2B5EF4-FFF2-40B4-BE49-F238E27FC236}">
                  <a16:creationId xmlns:a16="http://schemas.microsoft.com/office/drawing/2014/main" id="{6ED5109A-600A-4C23-9BB3-C4C19C2D9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2" name="Freeform 30">
              <a:extLst>
                <a:ext uri="{FF2B5EF4-FFF2-40B4-BE49-F238E27FC236}">
                  <a16:creationId xmlns:a16="http://schemas.microsoft.com/office/drawing/2014/main" id="{D76FF73F-8CA3-42B0-A680-353805CD2A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3" name="Freeform 31">
              <a:extLst>
                <a:ext uri="{FF2B5EF4-FFF2-40B4-BE49-F238E27FC236}">
                  <a16:creationId xmlns:a16="http://schemas.microsoft.com/office/drawing/2014/main" id="{B26A6949-3BEB-422A-854C-D4E26E4CF1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4" name="Freeform 32">
              <a:extLst>
                <a:ext uri="{FF2B5EF4-FFF2-40B4-BE49-F238E27FC236}">
                  <a16:creationId xmlns:a16="http://schemas.microsoft.com/office/drawing/2014/main" id="{FE07AD25-30AF-40CD-B901-DF1EDBD68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5" name="Freeform 33">
              <a:extLst>
                <a:ext uri="{FF2B5EF4-FFF2-40B4-BE49-F238E27FC236}">
                  <a16:creationId xmlns:a16="http://schemas.microsoft.com/office/drawing/2014/main" id="{5AA460AF-7760-4F15-881A-6F0BFDBCD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6" name="Freeform 34">
              <a:extLst>
                <a:ext uri="{FF2B5EF4-FFF2-40B4-BE49-F238E27FC236}">
                  <a16:creationId xmlns:a16="http://schemas.microsoft.com/office/drawing/2014/main" id="{EE53C70E-5D92-4C42-A34F-9F7D16006B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7" name="Freeform 35">
              <a:extLst>
                <a:ext uri="{FF2B5EF4-FFF2-40B4-BE49-F238E27FC236}">
                  <a16:creationId xmlns:a16="http://schemas.microsoft.com/office/drawing/2014/main" id="{C27614EE-0086-4D34-99BD-52F03708D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8" name="Freeform 36">
              <a:extLst>
                <a:ext uri="{FF2B5EF4-FFF2-40B4-BE49-F238E27FC236}">
                  <a16:creationId xmlns:a16="http://schemas.microsoft.com/office/drawing/2014/main" id="{326919B9-3ED4-4744-A713-326B3BAF6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9" name="Freeform 37">
              <a:extLst>
                <a:ext uri="{FF2B5EF4-FFF2-40B4-BE49-F238E27FC236}">
                  <a16:creationId xmlns:a16="http://schemas.microsoft.com/office/drawing/2014/main" id="{898BDBF5-8AA3-49CD-999A-ABA1F7AE3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40" name="Freeform 38">
              <a:extLst>
                <a:ext uri="{FF2B5EF4-FFF2-40B4-BE49-F238E27FC236}">
                  <a16:creationId xmlns:a16="http://schemas.microsoft.com/office/drawing/2014/main" id="{AF8ED3E0-CBE7-48C4-8F9E-FF98079CDB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42" name="Rectangle 41">
            <a:extLst>
              <a:ext uri="{FF2B5EF4-FFF2-40B4-BE49-F238E27FC236}">
                <a16:creationId xmlns:a16="http://schemas.microsoft.com/office/drawing/2014/main" id="{A84F153B-2093-4171-BD2D-1631695C9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4" name="Freeform 11">
            <a:extLst>
              <a:ext uri="{FF2B5EF4-FFF2-40B4-BE49-F238E27FC236}">
                <a16:creationId xmlns:a16="http://schemas.microsoft.com/office/drawing/2014/main" id="{99499096-7355-478E-8CCB-A47EA1B797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2" name="Title 1">
            <a:extLst>
              <a:ext uri="{FF2B5EF4-FFF2-40B4-BE49-F238E27FC236}">
                <a16:creationId xmlns:a16="http://schemas.microsoft.com/office/drawing/2014/main" id="{409FE3B4-325F-4F2F-9757-4FB98308552A}"/>
              </a:ext>
            </a:extLst>
          </p:cNvPr>
          <p:cNvSpPr>
            <a:spLocks noGrp="1"/>
          </p:cNvSpPr>
          <p:nvPr>
            <p:ph type="title" idx="4294967295"/>
          </p:nvPr>
        </p:nvSpPr>
        <p:spPr>
          <a:xfrm>
            <a:off x="1687669" y="624110"/>
            <a:ext cx="4137059" cy="1280890"/>
          </a:xfrm>
        </p:spPr>
        <p:txBody>
          <a:bodyPr vert="horz" lIns="91440" tIns="45720" rIns="91440" bIns="45720" rtlCol="0" anchor="t">
            <a:normAutofit/>
          </a:bodyPr>
          <a:lstStyle/>
          <a:p>
            <a:r>
              <a:rPr lang="en-US" sz="3200" b="1" dirty="0"/>
              <a:t>DATA DICTIONARY</a:t>
            </a:r>
            <a:endParaRPr lang="en-US" sz="3200" dirty="0"/>
          </a:p>
        </p:txBody>
      </p:sp>
      <p:pic>
        <p:nvPicPr>
          <p:cNvPr id="7" name="Content Placeholder 6">
            <a:extLst>
              <a:ext uri="{FF2B5EF4-FFF2-40B4-BE49-F238E27FC236}">
                <a16:creationId xmlns:a16="http://schemas.microsoft.com/office/drawing/2014/main" id="{73E14227-9E02-43D0-9AFC-E542DAE69BE2}"/>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2282621" y="1538734"/>
            <a:ext cx="2962510" cy="2698831"/>
          </a:xfrm>
          <a:prstGeom prst="rect">
            <a:avLst/>
          </a:prstGeom>
        </p:spPr>
      </p:pic>
      <p:pic>
        <p:nvPicPr>
          <p:cNvPr id="9" name="Picture 8">
            <a:extLst>
              <a:ext uri="{FF2B5EF4-FFF2-40B4-BE49-F238E27FC236}">
                <a16:creationId xmlns:a16="http://schemas.microsoft.com/office/drawing/2014/main" id="{DB4B7A6C-3E8F-4908-A1FF-09806C3F72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4911" y="1399026"/>
            <a:ext cx="3334830" cy="2384324"/>
          </a:xfrm>
          <a:prstGeom prst="rect">
            <a:avLst/>
          </a:prstGeom>
        </p:spPr>
      </p:pic>
    </p:spTree>
    <p:extLst>
      <p:ext uri="{BB962C8B-B14F-4D97-AF65-F5344CB8AC3E}">
        <p14:creationId xmlns:p14="http://schemas.microsoft.com/office/powerpoint/2010/main" val="3045581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FE6C9-057F-404D-8884-2D4550B224A2}"/>
              </a:ext>
            </a:extLst>
          </p:cNvPr>
          <p:cNvSpPr>
            <a:spLocks noGrp="1"/>
          </p:cNvSpPr>
          <p:nvPr>
            <p:ph type="title"/>
          </p:nvPr>
        </p:nvSpPr>
        <p:spPr>
          <a:xfrm>
            <a:off x="-1511172" y="657496"/>
            <a:ext cx="8911687" cy="1280890"/>
          </a:xfrm>
        </p:spPr>
        <p:txBody>
          <a:bodyPr>
            <a:normAutofit/>
          </a:bodyPr>
          <a:lstStyle/>
          <a:p>
            <a:pPr algn="ctr"/>
            <a:r>
              <a:rPr lang="en-US" sz="3200" b="1">
                <a:solidFill>
                  <a:schemeClr val="tx1"/>
                </a:solidFill>
                <a:latin typeface="+mn-lt"/>
                <a:cs typeface="Aparajita" panose="02020603050405020304" pitchFamily="18" charset="0"/>
              </a:rPr>
              <a:t>LOGIN FORM</a:t>
            </a:r>
            <a:endParaRPr lang="en-US" sz="3200" b="1" dirty="0">
              <a:solidFill>
                <a:schemeClr val="tx1"/>
              </a:solidFill>
              <a:latin typeface="+mn-lt"/>
              <a:cs typeface="Aparajita" panose="02020603050405020304" pitchFamily="18" charset="0"/>
            </a:endParaRPr>
          </a:p>
        </p:txBody>
      </p:sp>
      <p:pic>
        <p:nvPicPr>
          <p:cNvPr id="5" name="Content Placeholder 4">
            <a:extLst>
              <a:ext uri="{FF2B5EF4-FFF2-40B4-BE49-F238E27FC236}">
                <a16:creationId xmlns:a16="http://schemas.microsoft.com/office/drawing/2014/main" id="{2FE643C3-DD8D-4BFC-8DCB-88E0C0742A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266" y="1773383"/>
            <a:ext cx="8705823" cy="4221595"/>
          </a:xfrm>
        </p:spPr>
      </p:pic>
    </p:spTree>
    <p:extLst>
      <p:ext uri="{BB962C8B-B14F-4D97-AF65-F5344CB8AC3E}">
        <p14:creationId xmlns:p14="http://schemas.microsoft.com/office/powerpoint/2010/main" val="3866800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8541-F2CD-4397-AA32-906E18A85258}"/>
              </a:ext>
            </a:extLst>
          </p:cNvPr>
          <p:cNvSpPr>
            <a:spLocks noGrp="1"/>
          </p:cNvSpPr>
          <p:nvPr>
            <p:ph type="title"/>
          </p:nvPr>
        </p:nvSpPr>
        <p:spPr>
          <a:xfrm>
            <a:off x="-771377" y="667242"/>
            <a:ext cx="8911687" cy="1280890"/>
          </a:xfrm>
        </p:spPr>
        <p:txBody>
          <a:bodyPr>
            <a:normAutofit/>
          </a:bodyPr>
          <a:lstStyle/>
          <a:p>
            <a:pPr algn="ctr"/>
            <a:r>
              <a:rPr lang="en-US" sz="3200" b="1" dirty="0">
                <a:solidFill>
                  <a:schemeClr val="tx1"/>
                </a:solidFill>
                <a:latin typeface="+mn-lt"/>
              </a:rPr>
              <a:t>ADMIN DASHBOARD</a:t>
            </a:r>
          </a:p>
        </p:txBody>
      </p:sp>
      <p:pic>
        <p:nvPicPr>
          <p:cNvPr id="5" name="Content Placeholder 4">
            <a:extLst>
              <a:ext uri="{FF2B5EF4-FFF2-40B4-BE49-F238E27FC236}">
                <a16:creationId xmlns:a16="http://schemas.microsoft.com/office/drawing/2014/main" id="{6DC3DC38-34A4-4C8E-858C-F55FA11A40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04458" y="1459344"/>
            <a:ext cx="8622360" cy="5046239"/>
          </a:xfrm>
        </p:spPr>
      </p:pic>
    </p:spTree>
    <p:extLst>
      <p:ext uri="{BB962C8B-B14F-4D97-AF65-F5344CB8AC3E}">
        <p14:creationId xmlns:p14="http://schemas.microsoft.com/office/powerpoint/2010/main" val="2818851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CA72E-A67D-4516-B81F-15E4C8C00451}"/>
              </a:ext>
            </a:extLst>
          </p:cNvPr>
          <p:cNvSpPr>
            <a:spLocks noGrp="1"/>
          </p:cNvSpPr>
          <p:nvPr>
            <p:ph type="title"/>
          </p:nvPr>
        </p:nvSpPr>
        <p:spPr>
          <a:xfrm>
            <a:off x="1640156" y="657977"/>
            <a:ext cx="8911687" cy="1280890"/>
          </a:xfrm>
        </p:spPr>
        <p:txBody>
          <a:bodyPr>
            <a:normAutofit/>
          </a:bodyPr>
          <a:lstStyle/>
          <a:p>
            <a:r>
              <a:rPr lang="en-US" sz="3400" b="1" dirty="0">
                <a:solidFill>
                  <a:schemeClr val="tx1"/>
                </a:solidFill>
                <a:latin typeface="+mn-lt"/>
              </a:rPr>
              <a:t>BILLING DASHBOARD</a:t>
            </a:r>
          </a:p>
        </p:txBody>
      </p:sp>
      <p:pic>
        <p:nvPicPr>
          <p:cNvPr id="5" name="Content Placeholder 4">
            <a:extLst>
              <a:ext uri="{FF2B5EF4-FFF2-40B4-BE49-F238E27FC236}">
                <a16:creationId xmlns:a16="http://schemas.microsoft.com/office/drawing/2014/main" id="{F76E989D-4DC9-43B0-AC92-183A01EA687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10691" y="1505527"/>
            <a:ext cx="8774546" cy="5063596"/>
          </a:xfrm>
        </p:spPr>
      </p:pic>
    </p:spTree>
    <p:extLst>
      <p:ext uri="{BB962C8B-B14F-4D97-AF65-F5344CB8AC3E}">
        <p14:creationId xmlns:p14="http://schemas.microsoft.com/office/powerpoint/2010/main" val="2553809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46F47-49DD-4D74-8419-D7F74DF37E1A}"/>
              </a:ext>
            </a:extLst>
          </p:cNvPr>
          <p:cNvSpPr>
            <a:spLocks noGrp="1"/>
          </p:cNvSpPr>
          <p:nvPr>
            <p:ph type="title"/>
          </p:nvPr>
        </p:nvSpPr>
        <p:spPr>
          <a:xfrm>
            <a:off x="1640156" y="657976"/>
            <a:ext cx="8911687" cy="1280890"/>
          </a:xfrm>
        </p:spPr>
        <p:txBody>
          <a:bodyPr>
            <a:normAutofit/>
          </a:bodyPr>
          <a:lstStyle/>
          <a:p>
            <a:r>
              <a:rPr lang="en-US" sz="3200" b="1" dirty="0">
                <a:solidFill>
                  <a:schemeClr val="tx1"/>
                </a:solidFill>
              </a:rPr>
              <a:t>ORDER’S LIST</a:t>
            </a:r>
          </a:p>
        </p:txBody>
      </p:sp>
      <p:pic>
        <p:nvPicPr>
          <p:cNvPr id="5" name="Content Placeholder 4">
            <a:extLst>
              <a:ext uri="{FF2B5EF4-FFF2-40B4-BE49-F238E27FC236}">
                <a16:creationId xmlns:a16="http://schemas.microsoft.com/office/drawing/2014/main" id="{A26CDF91-A0CA-40F9-A892-5BAE0D95ED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89650" y="1348509"/>
            <a:ext cx="5679223" cy="5298012"/>
          </a:xfrm>
        </p:spPr>
      </p:pic>
    </p:spTree>
    <p:extLst>
      <p:ext uri="{BB962C8B-B14F-4D97-AF65-F5344CB8AC3E}">
        <p14:creationId xmlns:p14="http://schemas.microsoft.com/office/powerpoint/2010/main" val="7885469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7CBBC-C9E0-43FE-A260-FADD47ABF3CC}"/>
              </a:ext>
            </a:extLst>
          </p:cNvPr>
          <p:cNvSpPr>
            <a:spLocks noGrp="1"/>
          </p:cNvSpPr>
          <p:nvPr>
            <p:ph type="title"/>
          </p:nvPr>
        </p:nvSpPr>
        <p:spPr>
          <a:xfrm>
            <a:off x="1640156" y="674910"/>
            <a:ext cx="8911687" cy="1280890"/>
          </a:xfrm>
        </p:spPr>
        <p:txBody>
          <a:bodyPr>
            <a:normAutofit/>
          </a:bodyPr>
          <a:lstStyle/>
          <a:p>
            <a:r>
              <a:rPr lang="en-US" sz="3200" b="1" dirty="0">
                <a:solidFill>
                  <a:schemeClr val="tx1"/>
                </a:solidFill>
                <a:latin typeface="+mn-lt"/>
              </a:rPr>
              <a:t>BILL PREVIEW</a:t>
            </a:r>
          </a:p>
        </p:txBody>
      </p:sp>
      <p:pic>
        <p:nvPicPr>
          <p:cNvPr id="5" name="Content Placeholder 4">
            <a:extLst>
              <a:ext uri="{FF2B5EF4-FFF2-40B4-BE49-F238E27FC236}">
                <a16:creationId xmlns:a16="http://schemas.microsoft.com/office/drawing/2014/main" id="{6FBD317D-EA6A-4918-A7F4-5BFE36C7F1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2329" y="1457806"/>
            <a:ext cx="9196267" cy="4942994"/>
          </a:xfrm>
        </p:spPr>
      </p:pic>
    </p:spTree>
    <p:extLst>
      <p:ext uri="{BB962C8B-B14F-4D97-AF65-F5344CB8AC3E}">
        <p14:creationId xmlns:p14="http://schemas.microsoft.com/office/powerpoint/2010/main" val="7315254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A217E-01D9-4268-AD9C-69F04C1A13EF}"/>
              </a:ext>
            </a:extLst>
          </p:cNvPr>
          <p:cNvSpPr>
            <a:spLocks noGrp="1"/>
          </p:cNvSpPr>
          <p:nvPr>
            <p:ph type="title"/>
          </p:nvPr>
        </p:nvSpPr>
        <p:spPr>
          <a:xfrm>
            <a:off x="1961890" y="2495243"/>
            <a:ext cx="8911687" cy="1280890"/>
          </a:xfrm>
          <a:effectLst>
            <a:outerShdw blurRad="50800" dist="38100" dir="5400000" algn="t" rotWithShape="0">
              <a:prstClr val="black">
                <a:alpha val="40000"/>
              </a:prstClr>
            </a:outerShdw>
          </a:effectLst>
        </p:spPr>
        <p:txBody>
          <a:bodyPr>
            <a:noAutofit/>
          </a:bodyPr>
          <a:lstStyle/>
          <a:p>
            <a:pPr algn="ctr"/>
            <a:r>
              <a:rPr lang="en-US" sz="8000" b="1" dirty="0">
                <a:solidFill>
                  <a:schemeClr val="tx1"/>
                </a:solidFill>
              </a:rPr>
              <a:t>THANK YOU!</a:t>
            </a:r>
          </a:p>
        </p:txBody>
      </p:sp>
    </p:spTree>
    <p:extLst>
      <p:ext uri="{BB962C8B-B14F-4D97-AF65-F5344CB8AC3E}">
        <p14:creationId xmlns:p14="http://schemas.microsoft.com/office/powerpoint/2010/main" val="320024952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otalTime>122</TotalTime>
  <Words>601</Words>
  <Application>Microsoft Office PowerPoint</Application>
  <PresentationFormat>Widescreen</PresentationFormat>
  <Paragraphs>68</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Aparajita</vt:lpstr>
      <vt:lpstr>Arial</vt:lpstr>
      <vt:lpstr>Calibri</vt:lpstr>
      <vt:lpstr>Century Gothic</vt:lpstr>
      <vt:lpstr>Mangal</vt:lpstr>
      <vt:lpstr>Times New Roman</vt:lpstr>
      <vt:lpstr>Wingdings</vt:lpstr>
      <vt:lpstr>Wingdings 3</vt:lpstr>
      <vt:lpstr>Wisp</vt:lpstr>
      <vt:lpstr> “Coffee Shop Management System”</vt:lpstr>
      <vt:lpstr>INTRODUCTION</vt:lpstr>
      <vt:lpstr>SCOPE OF SYSTEM</vt:lpstr>
      <vt:lpstr>EXISTING SYSTEM</vt:lpstr>
      <vt:lpstr>PROPOSED SYSTEM</vt:lpstr>
      <vt:lpstr>MODULES</vt:lpstr>
      <vt:lpstr>HARDWARE REQUIREMENT</vt:lpstr>
      <vt:lpstr>SOFTWARE REQUIREMENT</vt:lpstr>
      <vt:lpstr>ER-DIAGRAM</vt:lpstr>
      <vt:lpstr>ACTIVITY DIAGRAM</vt:lpstr>
      <vt:lpstr>CLASS DIAGRAM</vt:lpstr>
      <vt:lpstr>SEQUENCE DIAGRAM</vt:lpstr>
      <vt:lpstr>STATE CHART</vt:lpstr>
      <vt:lpstr>DFD LEVEL - 0</vt:lpstr>
      <vt:lpstr>DFD LEVEL - 1</vt:lpstr>
      <vt:lpstr>USE-CASE DIAGRAM</vt:lpstr>
      <vt:lpstr>PowerPoint Presentation</vt:lpstr>
      <vt:lpstr>PowerPoint Presentation</vt:lpstr>
      <vt:lpstr>DATA DICTIONARY</vt:lpstr>
      <vt:lpstr>LOGIN FORM</vt:lpstr>
      <vt:lpstr>ADMIN DASHBOARD</vt:lpstr>
      <vt:lpstr>BILLING DASHBOARD</vt:lpstr>
      <vt:lpstr>ORDER’S LIST</vt:lpstr>
      <vt:lpstr>BILL PREVIEW</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“Coffee Shop Management System”</dc:title>
  <dc:creator>TEJAS SHINDE</dc:creator>
  <cp:lastModifiedBy>TEJAS SHINDE</cp:lastModifiedBy>
  <cp:revision>7</cp:revision>
  <dcterms:created xsi:type="dcterms:W3CDTF">2024-02-16T17:36:03Z</dcterms:created>
  <dcterms:modified xsi:type="dcterms:W3CDTF">2024-04-08T01:39:15Z</dcterms:modified>
</cp:coreProperties>
</file>